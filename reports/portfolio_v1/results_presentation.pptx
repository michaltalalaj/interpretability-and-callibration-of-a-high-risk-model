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 modeling: defensible evidence</a:t>
            </a:r>
          </a:p>
          <a:p>
            <a:r>
              <a:t>A reproducible portfolio audit of logistic regression and XGBoost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outcome is a stronger study, not a score claim</a:t>
            </a:r>
          </a:p>
          <a:p>
            <a:r>
              <a:t>Both families have modest development signal. The evidence also shows overfitting and costly operating points.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provenance remains the main deployment blocker</a:t>
            </a:r>
          </a:p>
          <a:p>
            <a:r>
              <a:t>Binary labels are observed; a default horizon, decision dates and borrower identities are not documented.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audit found concrete quality problems</a:t>
            </a:r>
          </a:p>
          <a:p>
            <a:r>
              <a:t>These are measured problems; near-zero denominators and post-outcome leakage remain hypotheses.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Redundancy is real, but removal needs evidence</a:t>
            </a:r>
          </a:p>
          <a:p>
            <a:r>
              <a:t>Eight exact duplicate field pairs; 66 numerical pairs with |Spearman rho| ≥ .98 on development data.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evidence showed overfit before the test</a:t>
            </a:r>
          </a:p>
          <a:p>
            <a:r>
              <a:t>Old training, validation and selected-CV results are diagnosis only; they do not select new models.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 nested development CV</a:t>
            </a:r>
          </a:p>
          <a:p>
            <a:r>
              <a:t>Two fixed repeats (42, 43) × three outer folds; three-fold inner AP selection.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set of explicit experiment families</a:t>
            </a:r>
          </a:p>
          <a:p>
            <a:r>
              <a:t>All ablations use the same outer roles; feature settings are selected inside inner folds.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logistic ablation table is retained</a:t>
            </a:r>
          </a:p>
          <a:p>
            <a:r>
              <a:t>Mean ± SD over six outer folds. SD is descriptive; these folds are dependent.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Trees: moderate controls, matched search paths</a:t>
            </a:r>
          </a:p>
          <a:p>
            <a:r>
              <a:t>No early stopping: tree counts are inner-selected. Weighted and unweighted searches share eight candidates.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Paired changes include negative findings</a:t>
            </a:r>
          </a:p>
          <a:p>
            <a:r>
              <a:t>Dots show all six paired outer-fold AP changes; diamonds are means. No favorable seed was selected.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selection is not automatically an improvement</a:t>
            </a:r>
          </a:p>
          <a:p>
            <a:r>
              <a:t>Whole raw fields preserve one-hot groups; dimensions and active sets vary across training folds.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is a separate probability experiment</a:t>
            </a:r>
          </a:p>
          <a:p>
            <a:r>
              <a:t>A regularized monotone sigmoid fits natural-prevalence rows independently of model fitting and thresholds.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fitting diagnosis: the intercept was penalized</a:t>
            </a:r>
          </a:p>
          <a:p>
            <a:r>
              <a:t>Adaptive follow-up, reported separately. It uses the same folds and C grids; it is not independent confirmation.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procedure-level results</a:t>
            </a:r>
          </a:p>
          <a:p>
            <a:r>
              <a:t>Each family chooses its recipe by inner AP only. These are development estimates, not a new test result.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Ranking curves need scope</a:t>
            </a:r>
          </a:p>
          <a:p>
            <a:r>
              <a:t>Repeat 0 pooled outer-development scores. Pooled AP and mean fold AP are different summaries.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Probability reliability remains uncertain</a:t>
            </a:r>
          </a:p>
          <a:p>
            <a:r>
              <a:t>Repeat 0 pooled outer-development predictions; the fitted calibration subsets contain only ≈20 defaults each.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F2 thresholds still create substantial workload</a:t>
            </a:r>
          </a:p>
          <a:p>
            <a:r>
              <a:t>F2 is a stated recall preference, not a monetary cost model. Values are outer-fold means.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signal; no ceiling is established</a:t>
            </a:r>
          </a:p>
          <a:p>
            <a:r>
              <a:t>Fixed clipped L2 C=.03, three-fold development CV, 99 shuffled-label controls.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Uncertainty rules out a strong winner claim</a:t>
            </a:r>
          </a:p>
          <a:p>
            <a:r>
              <a:t>Original rows are paired across repeats in the bootstrap; model refitting is not included.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families: strengths and costs</a:t>
            </a:r>
          </a:p>
          <a:p>
            <a:r>
              <a:t>Interpretability does not compensate for poor probability estimates or incomplete data provenance.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Expanded interpretation, without favorable-case selection</a:t>
            </a:r>
          </a:p>
          <a:p>
            <a:r>
              <a:t>Predeclared outer repeat 0/fold 0; recipe chosen by inner AP. No historical test explanations are added.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glassbox: actual fitted output</a:t>
            </a:r>
          </a:p>
          <a:p>
            <a:r>
              <a:t>Coefficient signs describe the base logistic margin; tree gain is unsigned training split importance.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blackbox: actual fitted output</a:t>
            </a:r>
          </a:p>
          <a:p>
            <a:r>
              <a:t>Coefficient signs describe the base logistic margin; tree gain is unsigned training split importance.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SHAP: glassbox, 800 development rows</a:t>
            </a:r>
          </a:p>
          <a:p>
            <a:r>
              <a:t>Mean absolute base-log-odds attribution averaged across three training backgrounds.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SHAP: blackbox, 800 development rows</a:t>
            </a:r>
          </a:p>
          <a:p>
            <a:r>
              <a:t>Mean absolute base-log-odds attribution averaged across three training backgrounds.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analysis: glassbox, a missed default</a:t>
            </a:r>
          </a:p>
          <a:p>
            <a:r>
              <a:t>First randomly sampled FN in the fixed development fold; signed effects explain the base classifier.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analysis: blackbox, a missed default</a:t>
            </a:r>
          </a:p>
          <a:p>
            <a:r>
              <a:t>First randomly sampled FN in the fixed development fold; signed effects explain the base classifier.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Correlated fields can redistribute credit</a:t>
            </a:r>
          </a:p>
          <a:p>
            <a:r>
              <a:t>Fit-only correlation groups sum signed SHAP terms before taking mean absolute magnitude.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Explanation stability has several meanings</a:t>
            </a:r>
          </a:p>
          <a:p>
            <a:r>
              <a:t>Background stability does not establish retraining stability, causal validity or subgroup fairness.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LIME fidelity is weak for this tree model</a:t>
            </a:r>
          </a:p>
          <a:p>
            <a:r>
              <a:t>32 cases/family × 3 seeds × 2,000 perturbations; synthetic-neighborhood R² is not held-out faithfulness.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Successes and errors are all retained</a:t>
            </a:r>
          </a:p>
          <a:p>
            <a:r>
              <a:t>Balanced confusion-cell sampling is illustrative; it is not a population-weighted case distribution.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Reproducibility is part of the result</a:t>
            </a:r>
          </a:p>
          <a:p>
            <a:r>
              <a:t>Every new saved model and every role boundary was checked; historical artifacts were preserved.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would make this deployment evidence?</a:t>
            </a:r>
          </a:p>
          <a:p>
            <a:r>
              <a:t>Implemented: rigorous local development study. Proposed: external validation and operational design.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and methods</a:t>
            </a:r>
          </a:p>
          <a:p>
            <a:r>
              <a:t>Technical report, theory guide and compact machine-readable evidence accompany this presentation.</a:t>
            </a:r>
          </a:p>
          <a:p>
            <a:r>
              <a:t>Source: Development CV evidence • historical test excluded • docs/portfolio-audit.md</a:t>
            </a:r>
          </a:p>
          <a:p>
            <a:r>
              <a:t>Local project artifact; see theory_guide.pdf for definitions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3D0D0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FFFFFF"/>
                </a:solidFill>
                <a:latin typeface="DejaVu Sans"/>
              </a:defRPr>
            </a:pPr>
            <a:r>
              <a:t>Credit modeling: defensible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CFDCE4"/>
                </a:solidFill>
                <a:latin typeface="DejaVu Sans"/>
              </a:defRPr>
            </a:pPr>
            <a:r>
              <a:t>A reproducible portfolio audit of logistic regression and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349500"/>
            <a:ext cx="108331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Signal, uncertainty and failure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3213100"/>
            <a:ext cx="10769600" cy="4324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63D0D0"/>
                </a:solidFill>
                <a:latin typeface="DejaVu Sans"/>
              </a:defRPr>
            </a:pPr>
            <a:r>
              <a:t>Data audit → controlled ablations → nested development CV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3607435"/>
            <a:ext cx="10769600" cy="4324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63D0D0"/>
                </a:solidFill>
                <a:latin typeface="DejaVu Sans"/>
              </a:defRPr>
            </a:pPr>
            <a:r>
              <a:t>calibration →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4889500"/>
            <a:ext cx="108331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Historical test repeatedly inspected; excluded from every new experiment.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CFDCE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FFFFFF"/>
                </a:solidFill>
                <a:latin typeface="DejaVu Sans"/>
              </a:defRPr>
            </a:pPr>
            <a:r>
              <a:t>01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The outcome is a stronger study, not a score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Both families have modest development signal. The evidence also shows overfitting and costly operating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968500"/>
            <a:ext cx="3471333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2146300"/>
            <a:ext cx="3128433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GLASSBOX SELECTOR 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451100"/>
            <a:ext cx="3128433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087F8C"/>
                </a:solidFill>
                <a:latin typeface="DejaVu Sans"/>
              </a:defRPr>
            </a:pPr>
            <a:r>
              <a:t>0.131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3098800"/>
            <a:ext cx="3128433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Fold SD 0.033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0333" y="1968500"/>
            <a:ext cx="3471333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0833" y="2146300"/>
            <a:ext cx="3128433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BLACKBOX SELECTOR 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0833" y="2451100"/>
            <a:ext cx="3128433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B36B00"/>
                </a:solidFill>
                <a:latin typeface="DejaVu Sans"/>
              </a:defRPr>
            </a:pPr>
            <a:r>
              <a:t>0.131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833" y="3098800"/>
            <a:ext cx="3128433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Fold SD 0.010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5666" y="1968500"/>
            <a:ext cx="3471333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6166" y="2146300"/>
            <a:ext cx="3128433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DUMMY 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6166" y="2451100"/>
            <a:ext cx="3128433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152B3A"/>
                </a:solidFill>
                <a:latin typeface="DejaVu Sans"/>
              </a:defRPr>
            </a:pPr>
            <a:r>
              <a:t>0.061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6166" y="3098800"/>
            <a:ext cx="3128433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Natural-prevalence reference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2418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4152900"/>
            <a:ext cx="10604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52B3A"/>
                </a:solidFill>
                <a:latin typeface="DejaVu Sans"/>
              </a:defRPr>
            </a:pPr>
            <a:r>
              <a:t>Outlier handling matters; additional feature removal is mixed.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8133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600" y="4724400"/>
            <a:ext cx="10604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52B3A"/>
                </a:solidFill>
                <a:latin typeface="DejaVu Sans"/>
              </a:defRPr>
            </a:pPr>
            <a:r>
              <a:t>Separate calibration repairs probability levels. Neither family has proven universal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00" y="5067300"/>
            <a:ext cx="10604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52B3A"/>
                </a:solidFill>
                <a:latin typeface="DejaVu Sans"/>
              </a:defRPr>
            </a:pPr>
            <a:r>
              <a:t>superiority.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Data provenance remains the main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922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blocker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Binary labels are observed; a default horizon, decision dates and borrower identities are not documented.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905000"/>
            <a:ext cx="11049000" cy="6223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8500" y="2032000"/>
            <a:ext cx="519811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2510" y="2032000"/>
            <a:ext cx="541909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Unresolved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527300"/>
            <a:ext cx="11049000" cy="6223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2654300"/>
            <a:ext cx="519811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3,000 rows / 183 defaults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2510" y="2654300"/>
            <a:ext cx="541909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Default event definition and horizon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149600"/>
            <a:ext cx="11049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500" y="3276600"/>
            <a:ext cx="519811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218 configured raw predictors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2510" y="3276600"/>
            <a:ext cx="541909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Feature availability at decision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771900"/>
            <a:ext cx="11049000" cy="6223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500" y="3898900"/>
            <a:ext cx="519811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No exact duplicate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2510" y="3898900"/>
            <a:ext cx="541909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Repeated borrowers cannot be excluded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394200"/>
            <a:ext cx="11049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4521200"/>
            <a:ext cx="519811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Historical 600-row exclusion frozen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2510" y="4521200"/>
            <a:ext cx="541909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No new external or temporal cohort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5016500"/>
            <a:ext cx="11049000" cy="6223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143500"/>
            <a:ext cx="519811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2,400 development rows / 146 defaults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2510" y="5143500"/>
            <a:ext cx="541909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No verified timestamps for temporal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The audit found concrete quality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These are measured problems; near-zero denominators and post-outcome leakage remain hypotheses.</a:t>
            </a:r>
          </a:p>
        </p:txBody>
      </p:sp>
      <p:pic>
        <p:nvPicPr>
          <p:cNvPr id="5" name="Picture 4" descr="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14" y="1841500"/>
            <a:ext cx="11050371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Redundancy is real, but removal needs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Eight exact duplicate field pairs; 66 numerical pairs with |Spearman rho| ≥ .98 on development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9939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3600" y="190500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Example exact duplicates: wsk_ROS / wsk_rent_sprzedazy; wsk_koszty_przychody 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221361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wsk_poziom_kosztow_operacyjnych.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78892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270002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Some ratios reach about 10^17; 1,014 infinite cells occur in the supplied full CSV.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5329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318643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Two coincident four-field profiles are not verified borrower IDs. No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349504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borrower-aware split is supported.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07035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398145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Every raw field’s prediction-time availability remains explicitly unverified.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Historical evidence showed overfit before the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Old training, validation and selected-CV results are diagnosis only; they do not select new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6858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453517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Historical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9570" y="20320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Train 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8880" y="20320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Validation 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8190" y="20320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Selected CV 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590800"/>
            <a:ext cx="11049000" cy="6858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2717800"/>
            <a:ext cx="453517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Logistic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9570" y="27178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0.611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8880" y="27178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8190" y="27178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276600"/>
            <a:ext cx="11049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500" y="3403600"/>
            <a:ext cx="453517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XGBoost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570" y="34036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0.991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8880" y="34036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8190" y="34036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962400"/>
            <a:ext cx="11049000" cy="6858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500" y="4089400"/>
            <a:ext cx="453517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Balanced L1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570" y="40894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0.298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8880" y="40894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8190" y="40894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648200"/>
            <a:ext cx="11049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500" y="4775200"/>
            <a:ext cx="453517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Heavily regularized 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570" y="47752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0.230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8880" y="47752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8190" y="4775200"/>
            <a:ext cx="188341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5753100"/>
            <a:ext cx="1083310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46774"/>
                </a:solidFill>
                <a:latin typeface="DejaVu Sans"/>
              </a:defRPr>
            </a:pPr>
            <a:r>
              <a:t>The old tree winner reduced variance and fitted signal. Investigate regularization and sampling, not test-tune.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Repeated nested development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Two fixed repeats (42, 43) × three outer folds; three-fold inner AP selection.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" y="2324100"/>
            <a:ext cx="2603500" cy="22606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2540000"/>
            <a:ext cx="2311400" cy="501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52B3A"/>
                </a:solidFill>
                <a:latin typeface="DejaVu Sans"/>
              </a:defRPr>
            </a:pPr>
            <a:r>
              <a:t>960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162300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Fit and 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453765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76700"/>
            <a:ext cx="22987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≈58–59 defaults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8200" y="2324100"/>
            <a:ext cx="2603500" cy="22606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3300" y="2540000"/>
            <a:ext cx="2311400" cy="501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52B3A"/>
                </a:solidFill>
                <a:latin typeface="DejaVu Sans"/>
              </a:defRPr>
            </a:pPr>
            <a:r>
              <a:t>320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3162300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Independent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3453765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sigmoid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300" y="4076700"/>
            <a:ext cx="22987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≈19–20 defaults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300" y="2324100"/>
            <a:ext cx="2603500" cy="22606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5400" y="2540000"/>
            <a:ext cx="2311400" cy="501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52B3A"/>
                </a:solidFill>
                <a:latin typeface="DejaVu Sans"/>
              </a:defRPr>
            </a:pPr>
            <a:r>
              <a:t>320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400" y="3162300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Independent 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400" y="3453765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5400" y="4076700"/>
            <a:ext cx="22987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≈19–20 defaults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2400" y="2324100"/>
            <a:ext cx="2603500" cy="22606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7500" y="2540000"/>
            <a:ext cx="2311400" cy="501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52B3A"/>
                </a:solidFill>
                <a:latin typeface="DejaVu Sans"/>
              </a:defRPr>
            </a:pPr>
            <a:r>
              <a:t>800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7500" y="3162300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7500" y="3453765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500" y="3745229"/>
            <a:ext cx="22987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087F8C"/>
                </a:solidFill>
                <a:latin typeface="DejaVu Sans"/>
              </a:defRPr>
            </a:pPr>
            <a:r>
              <a:t>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7500" y="4076700"/>
            <a:ext cx="22987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≈48–49 defaults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219700"/>
            <a:ext cx="110236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2B3A"/>
                </a:solidFill>
                <a:latin typeface="DejaVu Sans"/>
              </a:defRPr>
            </a:pPr>
            <a:r>
              <a:t>All four roles are disjoint. This costs fitting data, but avoids sharing calibration and threshold labels.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829300"/>
            <a:ext cx="110236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46774"/>
                </a:solidFill>
                <a:latin typeface="DejaVu Sans"/>
              </a:defRPr>
            </a:pPr>
            <a:r>
              <a:t>Random stratification is a documented limitation, not a substitute for missing borrower/time metadata.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A small set of explicit experiment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All ablations use the same outer roles; feature settings are selected inside inner folds.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6096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25463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0750" y="2032000"/>
            <a:ext cx="80708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Controlled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514600"/>
            <a:ext cx="11049000" cy="609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641600"/>
            <a:ext cx="25463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0750" y="2641600"/>
            <a:ext cx="80708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Unweighted vs balanced logistic; identical tree candidates with fold weights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3124200"/>
            <a:ext cx="11049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3251200"/>
            <a:ext cx="25463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Extreme values /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750" y="3251200"/>
            <a:ext cx="80708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1%/99% train-only clipping; robust vs standard scaling after clipping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733800"/>
            <a:ext cx="11049000" cy="609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500" y="3860800"/>
            <a:ext cx="25463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Missing / rare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750" y="3860800"/>
            <a:ext cx="80708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Indicators off; sparse-field cutoffs; rare-level pooling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343400"/>
            <a:ext cx="11049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4470400"/>
            <a:ext cx="25463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Feature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0750" y="4470400"/>
            <a:ext cx="80708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L1; raw-field Spearman redundancy; whole-field supervised top-k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953000"/>
            <a:ext cx="11049000" cy="609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500" y="5080000"/>
            <a:ext cx="25463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Tree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0750" y="5080000"/>
            <a:ext cx="80708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Matched rate/tree-count paths, moderate complexity controls, frozen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The full logistic ablation table is retained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Mean ± SD over six outer folds. SD is descriptive; these folds are dependent.</a:t>
            </a:r>
          </a:p>
        </p:txBody>
      </p:sp>
      <p:pic>
        <p:nvPicPr>
          <p:cNvPr id="5" name="Picture 4" descr="glassbox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428" y="1841500"/>
            <a:ext cx="7301142" cy="4330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09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Trees: moderate controls, matched search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No early stopping: tree counts are inner-selected. Weighted and unweighted searches share eight candidates.</a:t>
            </a:r>
          </a:p>
        </p:txBody>
      </p:sp>
      <p:pic>
        <p:nvPicPr>
          <p:cNvPr id="5" name="Picture 4" descr="blackbox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83" y="1841500"/>
            <a:ext cx="9340632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Paired changes include negative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Dots show all six paired outer-fold AP changes; diamonds are means. No favorable seed was selected.</a:t>
            </a:r>
          </a:p>
        </p:txBody>
      </p:sp>
      <p:pic>
        <p:nvPicPr>
          <p:cNvPr id="5" name="Picture 4" descr="paired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46" y="1816100"/>
            <a:ext cx="9128107" cy="436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Feature selection is not automatically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922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Whole raw fields preserve one-hot groups; dimensions and active sets vary across training folds.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905000"/>
            <a:ext cx="11049000" cy="5334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8500" y="20320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Recipe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50" y="20320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Raw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3490" y="20320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2309" y="20320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Active coeff.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1129" y="20320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438400"/>
            <a:ext cx="11049000" cy="5334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500" y="25654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lr_clip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650" y="25654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218.0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490" y="25654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494.5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2309" y="25654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494.5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1129" y="25654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0.142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2971800"/>
            <a:ext cx="11049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30988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lr_rare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650" y="30988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218.0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490" y="30988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251.5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309" y="30988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251.5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1129" y="30988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0.149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3505200"/>
            <a:ext cx="11049000" cy="5334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500" y="36322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lr_drop_sparse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5650" y="36322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215.0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490" y="36322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488.5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2309" y="36322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488.5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1129" y="36322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0.142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4038600"/>
            <a:ext cx="11049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500" y="41656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lr_redundancy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5650" y="41656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160.7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3490" y="41656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435.3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2309" y="41656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435.3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1129" y="41656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0.126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4572000"/>
            <a:ext cx="11049000" cy="5334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8500" y="46990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lr_grouped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5650" y="46990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91.7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3490" y="46990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145.0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2309" y="46990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145.0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1129" y="46990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0.151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5105400"/>
            <a:ext cx="11049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500" y="5232400"/>
            <a:ext cx="365125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lr_l1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5650" y="5232400"/>
            <a:ext cx="155194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218.0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3490" y="52324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494.5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2309" y="5232400"/>
            <a:ext cx="177292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22.5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1129" y="5232400"/>
            <a:ext cx="122047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0.135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Calibration is a separate probability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A regularized monotone sigmoid fits natural-prevalence rows independently of model fitting and thresholds.</a:t>
            </a:r>
          </a:p>
        </p:txBody>
      </p:sp>
      <p:pic>
        <p:nvPicPr>
          <p:cNvPr id="5" name="Picture 4" descr="calibration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610" y="1841500"/>
            <a:ext cx="8386778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A fitting diagnosis: the intercept was penalized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Adaptive follow-up, reported separately. It uses the same folds and C grids; it is not independent confirmation.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9939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3600" y="190500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liblinear penalizes its synthetic intercept. Very small C can pull even an unweighted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221361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toward 0.5.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78892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270002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L2 follow-up: lbfgs with an unpenalized intercept, with and without clipping.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5329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318643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L1 follow-up: same solver, with intercept_scaling=100 to weaken the intercept penalty.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5359400"/>
            <a:ext cx="10833100" cy="3981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52B3A"/>
                </a:solidFill>
                <a:latin typeface="DejaVu Sans"/>
              </a:defRPr>
            </a:pPr>
            <a:r>
              <a:t>Clipped L2 raw Brier: liblinear 0.155 → lbfgs 0.057.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Primary procedure-level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Each family chooses its recipe by inner AP only. These are development estimates, not a new test 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7874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0750" y="20320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AP ±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0" y="20320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330" y="20320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Brier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9660" y="2032000"/>
            <a:ext cx="155194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Log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692400"/>
            <a:ext cx="11049000" cy="7874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28194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dummy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750" y="28194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0.061 ± 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28194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330" y="28194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0.0571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9660" y="2819400"/>
            <a:ext cx="155194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0.229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479800"/>
            <a:ext cx="11049000" cy="78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36068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0750" y="36068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0.131 ± 0.033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000" y="36068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0.659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330" y="36068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0.0570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9660" y="3606800"/>
            <a:ext cx="155194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0.226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4267200"/>
            <a:ext cx="11049000" cy="7874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" y="43942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0750" y="4394200"/>
            <a:ext cx="254635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0.131 ± 0.010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3000" y="43942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0.706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330" y="4394200"/>
            <a:ext cx="166243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0.0556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9660" y="4394200"/>
            <a:ext cx="155194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52B3A"/>
                </a:solidFill>
                <a:latin typeface="DejaVu Sans"/>
              </a:defRPr>
            </a:pPr>
            <a:r>
              <a:t>0.215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5613400"/>
            <a:ext cx="10833100" cy="295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46774"/>
                </a:solidFill>
                <a:latin typeface="DejaVu Sans"/>
              </a:defRPr>
            </a:pPr>
            <a:r>
              <a:t>Sigmoid outputs shown. The adaptive intercept study is separate; it does not replace these planned estimates.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Ranking curves need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Repeat 0 pooled outer-development scores. Pooled AP and mean fold AP are different summaries.</a:t>
            </a:r>
          </a:p>
        </p:txBody>
      </p:sp>
      <p:pic>
        <p:nvPicPr>
          <p:cNvPr id="5" name="Picture 4" descr="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2" y="1841500"/>
            <a:ext cx="11008455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Probability reliability remains uncertain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Repeat 0 pooled outer-development predictions; the fitted calibration subsets contain only ≈20 defaults each.</a:t>
            </a:r>
          </a:p>
        </p:txBody>
      </p:sp>
      <p:pic>
        <p:nvPicPr>
          <p:cNvPr id="5" name="Picture 4" descr="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2" y="1841500"/>
            <a:ext cx="11008455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F2 thresholds still create substantial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F2 is a stated recall preference, not a monetary cost model. Values are outer-fold means.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7239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365125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5650" y="2032000"/>
            <a:ext cx="16624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3980" y="20320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820" y="20320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FP / 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9660" y="20320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Flagged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628900"/>
            <a:ext cx="11049000" cy="7239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2755900"/>
            <a:ext cx="365125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dummy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650" y="2755900"/>
            <a:ext cx="16624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6.1%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980" y="27559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100.0%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820" y="27559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751.3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9660" y="27559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100.0%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352800"/>
            <a:ext cx="110490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3479800"/>
            <a:ext cx="365125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5650" y="3479800"/>
            <a:ext cx="16624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980" y="34798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67.0%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820" y="34798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362.0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9660" y="34798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49.3%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4076700"/>
            <a:ext cx="11049000" cy="7239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" y="4203700"/>
            <a:ext cx="365125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650" y="4203700"/>
            <a:ext cx="16624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10.2%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980" y="42037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65.4%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820" y="42037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290.5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9660" y="42037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40.3%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800600"/>
            <a:ext cx="110490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4927600"/>
            <a:ext cx="365125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lr_lbfgs_clip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5650" y="4927600"/>
            <a:ext cx="16624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10.1%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3980" y="49276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54.0%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820" y="49276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238.8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9660" y="4927600"/>
            <a:ext cx="155194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33.1%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5753100"/>
            <a:ext cx="1083310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46774"/>
                </a:solidFill>
                <a:latin typeface="DejaVu Sans"/>
              </a:defRPr>
            </a:pPr>
            <a:r>
              <a:t>Last row is the adaptive follow-up. No threshold was selected from the historical test or outer labels.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There is signal; no ceiling is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Fixed clipped L2 C=.03, three-fold development CV, 99 shuffled-label controls.</a:t>
            </a:r>
          </a:p>
        </p:txBody>
      </p:sp>
      <p:pic>
        <p:nvPicPr>
          <p:cNvPr id="5" name="Picture 4" descr="per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75" y="1841500"/>
            <a:ext cx="9288249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Uncertainty rules out a strong winner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Original rows are paired across repeats in the bootstrap; model refitting is not included.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2095500"/>
            <a:ext cx="10922000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2273300"/>
            <a:ext cx="10579100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CONDITIONAL ΔAP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578100"/>
            <a:ext cx="10579100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152B3A"/>
                </a:solidFill>
                <a:latin typeface="DejaVu Sans"/>
              </a:defRPr>
            </a:pPr>
            <a:r>
              <a:t>[-0.033, +0.033]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3225800"/>
            <a:ext cx="105791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Tree selector minus logistic selector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" y="41783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408940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Fold SD, repeat-level results and paired ablations are all retained.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466471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457581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The interval conditions on fitted predictions and prevalence; unknown borrower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488442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is not modeled.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45973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537083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Adaptive experimentation and future distribution shift require a new external /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" y="567944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cohort.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Both families: strengths and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Interpretability does not compensate for poor probability estimates or incomplete data provenance.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6223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188341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797810" y="20320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2655" y="20320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XGBoost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527300"/>
            <a:ext cx="11049000" cy="6223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2654300"/>
            <a:ext cx="188341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7810" y="26543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Signed additive margins; sparse 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2655" y="26543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Nonlinearities and interactions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149600"/>
            <a:ext cx="11049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500" y="3276600"/>
            <a:ext cx="188341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Weakness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7810" y="32766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Representation and extreme-value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2655" y="32766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Overfit and tuning 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771900"/>
            <a:ext cx="11049000" cy="6223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3898900"/>
            <a:ext cx="188341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Probability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7810" y="38989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Weighting and intercept penalization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2655" y="38989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Small calibration sets; score shrinkage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394200"/>
            <a:ext cx="11049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4521200"/>
            <a:ext cx="188341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7810" y="45212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Exact native terms; Linear 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2655" y="45212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Gain has no direction; Tree SHAP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016500"/>
            <a:ext cx="11049000" cy="6223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500" y="5143500"/>
            <a:ext cx="1883410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52B3A"/>
                </a:solidFill>
                <a:latin typeface="DejaVu Sans"/>
              </a:defRPr>
            </a:pPr>
            <a:r>
              <a:t>Observed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7810" y="51435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No clear family-level AP 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2655" y="5143500"/>
            <a:ext cx="4258945" cy="260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52B3A"/>
                </a:solidFill>
                <a:latin typeface="DejaVu Sans"/>
              </a:defRPr>
            </a:pPr>
            <a:r>
              <a:t>Low LIME fidelity in the studied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Expanded interpretation, without favorable-case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922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Predeclared outer repeat 0/fold 0; recipe chosen by inner AP. No historical test explanations are added.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0" y="1968500"/>
            <a:ext cx="3471333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2146300"/>
            <a:ext cx="3128433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SHAP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451100"/>
            <a:ext cx="3128433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087F8C"/>
                </a:solidFill>
                <a:latin typeface="DejaVu Sans"/>
              </a:defRPr>
            </a:pPr>
            <a:r>
              <a:t>800 /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3098800"/>
            <a:ext cx="3128433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All held-out rows in that outer fold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0333" y="1968500"/>
            <a:ext cx="3471333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833" y="2146300"/>
            <a:ext cx="3128433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SUCCESS / ERROR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833" y="2451100"/>
            <a:ext cx="3128433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152B3A"/>
                </a:solidFill>
                <a:latin typeface="DejaVu Sans"/>
              </a:defRPr>
            </a:pPr>
            <a:r>
              <a:t>32 / 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833" y="3098800"/>
            <a:ext cx="3128433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8 random TP, FP, FN, TN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5666" y="1968500"/>
            <a:ext cx="3471333" cy="16256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6166" y="2146300"/>
            <a:ext cx="3128433" cy="226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46774"/>
                </a:solidFill>
                <a:latin typeface="DejaVu Sans"/>
              </a:defRPr>
            </a:pPr>
            <a:r>
              <a:t>LIME 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6166" y="2451100"/>
            <a:ext cx="3128433" cy="569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B36B00"/>
                </a:solidFill>
                <a:latin typeface="DejaVu Sans"/>
              </a:defRPr>
            </a:pPr>
            <a:r>
              <a:t>192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6166" y="3098800"/>
            <a:ext cx="3128433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46774"/>
                </a:solidFill>
                <a:latin typeface="DejaVu Sans"/>
              </a:defRPr>
            </a:pPr>
            <a:r>
              <a:t>3 seeds × 32 cases × 2 families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2799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600" y="419100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Three fit-only SHAP backgrounds test reference sensitivity.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821555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732655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Native/SHAP explain base log odds. LIME approximates base probability; calibrated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600" y="5058409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decisions are separate.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Native glassbox: actual fitted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Coefficient signs describe the base logistic margin; tree gain is unsigned training split importance.</a:t>
            </a:r>
          </a:p>
        </p:txBody>
      </p:sp>
      <p:pic>
        <p:nvPicPr>
          <p:cNvPr id="5" name="Picture 4" descr="glassbox_n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66" y="1841500"/>
            <a:ext cx="7824666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Native blackbox: actual fitted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Coefficient signs describe the base logistic margin; tree gain is unsigned training split importance.</a:t>
            </a:r>
          </a:p>
        </p:txBody>
      </p:sp>
      <p:pic>
        <p:nvPicPr>
          <p:cNvPr id="5" name="Picture 4" descr="blackbox_n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0" y="1841500"/>
            <a:ext cx="7820039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Global SHAP: glassbox, 800 development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Mean absolute base-log-odds attribution averaged across three training backgrounds.</a:t>
            </a:r>
          </a:p>
        </p:txBody>
      </p:sp>
      <p:pic>
        <p:nvPicPr>
          <p:cNvPr id="5" name="Picture 4" descr="glassbox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294" y="1841500"/>
            <a:ext cx="7815411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Global SHAP: blackbox, 800 development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Mean absolute base-log-odds attribution averaged across three training backgrounds.</a:t>
            </a:r>
          </a:p>
        </p:txBody>
      </p:sp>
      <p:pic>
        <p:nvPicPr>
          <p:cNvPr id="5" name="Picture 4" descr="blackbox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0" y="1841500"/>
            <a:ext cx="7820039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Error analysis: glassbox, a missed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First randomly sampled FN in the fixed development fold; signed effects explain the base classifier.</a:t>
            </a:r>
          </a:p>
        </p:txBody>
      </p:sp>
      <p:pic>
        <p:nvPicPr>
          <p:cNvPr id="5" name="Picture 4" descr="glassbox_loca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422" y="1866900"/>
            <a:ext cx="8235155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000" y="5753100"/>
            <a:ext cx="108331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52B3A"/>
                </a:solidFill>
                <a:latin typeface="DejaVu Sans"/>
              </a:defRPr>
            </a:pPr>
            <a:r>
              <a:t>Row 0: actual 1; base 0.4617 → sigmoid 0.0612 &lt; t 0.0627.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Error analysis: blackbox, a missed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First randomly sampled FN in the fixed development fold; signed effects explain the base classifier.</a:t>
            </a:r>
          </a:p>
        </p:txBody>
      </p:sp>
      <p:pic>
        <p:nvPicPr>
          <p:cNvPr id="5" name="Picture 4" descr="blackbox_loca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422" y="1866900"/>
            <a:ext cx="8235155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000" y="5753100"/>
            <a:ext cx="108331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52B3A"/>
                </a:solidFill>
                <a:latin typeface="DejaVu Sans"/>
              </a:defRPr>
            </a:pPr>
            <a:r>
              <a:t>Row 14: actual 1; base 0.0283 → sigmoid 0.0443 &lt; t 0.0541.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Correlated fields can redistribute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Fit-only correlation groups sum signed SHAP terms before taking mean absolute magnitude.</a:t>
            </a:r>
          </a:p>
        </p:txBody>
      </p:sp>
      <p:pic>
        <p:nvPicPr>
          <p:cNvPr id="5" name="Picture 4" descr="glassbox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0" y="1841500"/>
            <a:ext cx="7820039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Explanation stability has several meanings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Background stability does not establish retraining stability, causal validity or subgroup fairness.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8890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177292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7320" y="2032000"/>
            <a:ext cx="287782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SHAP top-10 Jaccard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1040" y="2032000"/>
            <a:ext cx="27673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SHAP rank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270" y="2032000"/>
            <a:ext cx="27673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LIME selected-15 Jaccard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794000"/>
            <a:ext cx="11049000" cy="889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2921000"/>
            <a:ext cx="177292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7320" y="2921000"/>
            <a:ext cx="287782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1040" y="2921000"/>
            <a:ext cx="27673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0.970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4270" y="2921000"/>
            <a:ext cx="27673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0.984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683000"/>
            <a:ext cx="11049000" cy="88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500" y="3810000"/>
            <a:ext cx="177292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7320" y="3810000"/>
            <a:ext cx="287782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0.879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1040" y="3810000"/>
            <a:ext cx="27673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1.000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4270" y="3810000"/>
            <a:ext cx="2767330" cy="278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52B3A"/>
                </a:solidFill>
                <a:latin typeface="DejaVu Sans"/>
              </a:defRPr>
            </a:pPr>
            <a:r>
              <a:t>0.587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422900"/>
            <a:ext cx="10833100" cy="329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46774"/>
                </a:solidFill>
                <a:latin typeface="DejaVu Sans"/>
              </a:defRPr>
            </a:pPr>
            <a:r>
              <a:t>Active/retained raw-field Jaccard across all six fitted folds is also exported for every recipe.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LIME fidelity is weak for this tree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32 cases/family × 3 seeds × 2,000 perturbations; synthetic-neighborhood R² is not held-out faithfulness.</a:t>
            </a:r>
          </a:p>
        </p:txBody>
      </p:sp>
      <p:pic>
        <p:nvPicPr>
          <p:cNvPr id="5" name="Picture 4" descr="lime_fide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2" y="1841500"/>
            <a:ext cx="11008455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Successes and errors are all retained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Balanced confusion-cell sampling is illustrative; it is not a population-weighted case distribution.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905000"/>
            <a:ext cx="11049000" cy="444500"/>
          </a:xfrm>
          <a:prstGeom prst="rect">
            <a:avLst/>
          </a:prstGeom>
          <a:solidFill>
            <a:srgbClr val="15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0320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9770" y="2032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6630" y="2032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3490" y="20320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Median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5250" y="20320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Median sigmoid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349500"/>
            <a:ext cx="11049000" cy="4445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24765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9770" y="2476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6630" y="2476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490" y="24765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5250" y="24765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794000"/>
            <a:ext cx="110490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29210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9770" y="2921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6630" y="2921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490" y="29210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5250" y="29210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0.074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3238500"/>
            <a:ext cx="11049000" cy="4445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" y="33655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9770" y="3365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6630" y="3365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490" y="33655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5250" y="33655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0.029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3683000"/>
            <a:ext cx="110490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38100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blackbox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9770" y="3810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6630" y="3810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3490" y="38100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0.115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5250" y="38100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0.107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4127500"/>
            <a:ext cx="11049000" cy="4445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500" y="42545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9770" y="4254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FN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6630" y="4254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3490" y="42545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0.470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5250" y="42545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4572000"/>
            <a:ext cx="110490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8500" y="46990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39770" y="4699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FP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6630" y="4699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3490" y="46990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0.476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5250" y="46990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0.063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" y="5016500"/>
            <a:ext cx="11049000" cy="4445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8500" y="51435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39770" y="5143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TN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86630" y="51435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3490" y="51435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0.466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5250" y="51435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0.062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" y="5461000"/>
            <a:ext cx="110490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8500" y="5588000"/>
            <a:ext cx="232537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52B3A"/>
                </a:solidFill>
                <a:latin typeface="DejaVu Sans"/>
              </a:defRPr>
            </a:pPr>
            <a:r>
              <a:t>glassbox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39770" y="5588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TP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6630" y="5588000"/>
            <a:ext cx="13309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3490" y="5588000"/>
            <a:ext cx="24358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0.481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5250" y="5588000"/>
            <a:ext cx="254635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52B3A"/>
                </a:solidFill>
                <a:latin typeface="DejaVu Sans"/>
              </a:defRPr>
            </a:pPr>
            <a:r>
              <a:t>0.064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Reproducibility is part of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Every new saved model and every role boundary was checked; historical artifacts were preserved.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9939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3600" y="190500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126 saved base models: assessment predictions and metrics recomputed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2230755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loading.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83591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274701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19 tests, including outer-label isolation and portable historical exclusions.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352165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3263265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Cold refits: two complete recipes, six folds, both calibration modes reproduce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358902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predictions.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4175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4105275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Tracked plan, fold tables, failures, runtimes, environment, hashes and code snapshots;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443103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PDFs remain local.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What would make this deployment evidence?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Implemented: rigorous local development study. Proposed: external validation and operational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9939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3600" y="190500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Obtain borrower identifiers, dates, target horizon and verified prediction-time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2230755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lineage.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84861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275971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Use appropriate group/time development splits, then assess a genuinely new cohort.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377565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3288665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Define error costs, review capacity, subgroup checks and monitoring ownership.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90652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" y="3817620"/>
            <a:ext cx="10604500" cy="36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52B3A"/>
                </a:solidFill>
                <a:latin typeface="DejaVu Sans"/>
              </a:defRPr>
            </a:pPr>
            <a:r>
              <a:t>Validate recalibration and explanation stability under refitting and distribution shift.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4800"/>
            <a:ext cx="110871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87F8C"/>
                </a:solidFill>
                <a:latin typeface="DejaVu Sans"/>
              </a:defRPr>
            </a:pPr>
            <a:r>
              <a:t>CREDIT MODEL STUDY  /  16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47700"/>
            <a:ext cx="110871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52B3A"/>
                </a:solidFill>
                <a:latin typeface="DejaVu Sans"/>
              </a:defRPr>
            </a:pPr>
            <a:r>
              <a:t>Evidence and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49400"/>
            <a:ext cx="11087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6774"/>
                </a:solidFill>
                <a:latin typeface="DejaVu Sans"/>
              </a:defRPr>
            </a:pPr>
            <a:r>
              <a:t>Technical report, theory guide and compact machine-readable evidence accompany this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99390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3600" y="190500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docs/portfolio-audit.md and docs/evidence/portfolio_v1: complete evidence and limitations.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50571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41681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config/portfolio.yaml: planned study; portfolio_intercept.yaml: labeled adaptive follow-up.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" y="301752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292862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Primary sources: scikit-learn CV/scoring/calibration; XGBoost; SHAP (Lundberg &amp; Lee); LIME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323723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(Ribeiro et al.).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837940"/>
            <a:ext cx="50800" cy="114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" y="374904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Local reports/portfolio_v1: presentation, theory PDF, technical-report PDF, charts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4057650"/>
            <a:ext cx="10604500" cy="346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52B3A"/>
                </a:solidFill>
                <a:latin typeface="DejaVu Sans"/>
              </a:defRPr>
            </a:pPr>
            <a:r>
              <a:t>validation previews.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502400"/>
            <a:ext cx="103251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546774"/>
                </a:solidFill>
                <a:latin typeface="DejaVu Sans"/>
              </a:defRPr>
            </a:pPr>
            <a:r>
              <a:t>Development CV evidence • historical test excluded • docs/portfolio-audit.md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500" y="6502400"/>
            <a:ext cx="736600" cy="165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52B3A"/>
                </a:solidFill>
                <a:latin typeface="DejaVu Sans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