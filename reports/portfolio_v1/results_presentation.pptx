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 modeling: defensible evidence</a:t>
            </a:r>
          </a:p>
          <a:p>
            <a:r>
              <a:t>A reproducible portfolio audit of logistic regression and XGBoost</a:t>
            </a:r>
          </a:p>
          <a:p>
            <a:r>
              <a:t>Source: Development CV evidence • historical test excluded • docs/portfolio-audit.md</a:t>
            </a:r>
          </a:p>
          <a:p>
            <a:r>
              <a:t>Local project artifact; see theory_guide.pdf for definitions and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outcome is a stronger study, not a score claim</a:t>
            </a:r>
          </a:p>
          <a:p>
            <a:r>
              <a:t>Both families have modest development signal. The evidence also shows overfitting and costly operating points.</a:t>
            </a:r>
          </a:p>
          <a:p>
            <a:r>
              <a:t>Source: Development CV evidence • historical test excluded • docs/portfolio-audit.md</a:t>
            </a:r>
          </a:p>
          <a:p>
            <a:r>
              <a:t>Local project artifact; see theory_guide.pdf for definitions and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provenance remains the main deployment blocker</a:t>
            </a:r>
          </a:p>
          <a:p>
            <a:r>
              <a:t>Binary labels are observed; a default horizon, decision dates and borrower identities are not documented.</a:t>
            </a:r>
          </a:p>
          <a:p>
            <a:r>
              <a:t>Source: Development CV evidence • historical test excluded • docs/portfolio-audit.md</a:t>
            </a:r>
          </a:p>
          <a:p>
            <a:r>
              <a:t>Local project artifact; see theory_guide.pdf for definitions and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audit found concrete quality problems</a:t>
            </a:r>
          </a:p>
          <a:p>
            <a:r>
              <a:t>These are measured problems; near-zero denominators and post-outcome leakage remain hypotheses.</a:t>
            </a:r>
          </a:p>
          <a:p>
            <a:r>
              <a:t>Source: Development CV evidence • historical test excluded • docs/portfolio-audit.md</a:t>
            </a:r>
          </a:p>
          <a:p>
            <a:r>
              <a:t>Local project artifact; see theory_guide.pdf for definitions and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Redundancy is real, but removal needs evidence</a:t>
            </a:r>
          </a:p>
          <a:p>
            <a:r>
              <a:t>Eight exact duplicate field pairs; 66 numerical pairs with |Spearman rho| ≥ .98 on development data.</a:t>
            </a:r>
          </a:p>
          <a:p>
            <a:r>
              <a:t>Source: Development CV evidence • historical test excluded • docs/portfolio-audit.md</a:t>
            </a:r>
          </a:p>
          <a:p>
            <a:r>
              <a:t>Local project artifact; see theory_guide.pdf for definitions and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Historical evidence showed overfit before the test</a:t>
            </a:r>
          </a:p>
          <a:p>
            <a:r>
              <a:t>Old training, validation and selected-CV results are diagnosis only; they do not select new models.</a:t>
            </a:r>
          </a:p>
          <a:p>
            <a:r>
              <a:t>Source: Development CV evidence • historical test excluded • docs/portfolio-audit.md</a:t>
            </a:r>
          </a:p>
          <a:p>
            <a:r>
              <a:t>Local project artifact; see theory_guide.pdf for definitions and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Repeated nested development CV</a:t>
            </a:r>
          </a:p>
          <a:p>
            <a:r>
              <a:t>Two fixed repeats (42, 43) × three outer folds; three-fold inner AP selection.</a:t>
            </a:r>
          </a:p>
          <a:p>
            <a:r>
              <a:t>Source: Development CV evidence • historical test excluded • docs/portfolio-audit.md</a:t>
            </a:r>
          </a:p>
          <a:p>
            <a:r>
              <a:t>Local project artifact; see theory_guide.pdf for definitions and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small set of explicit experiment families</a:t>
            </a:r>
          </a:p>
          <a:p>
            <a:r>
              <a:t>All ablations use the same outer roles; feature settings are selected inside inner folds.</a:t>
            </a:r>
          </a:p>
          <a:p>
            <a:r>
              <a:t>Source: Development CV evidence • historical test excluded • docs/portfolio-audit.md</a:t>
            </a:r>
          </a:p>
          <a:p>
            <a:r>
              <a:t>Local project artifact; see theory_guide.pdf for definitions and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full logistic ablation table is retained</a:t>
            </a:r>
          </a:p>
          <a:p>
            <a:r>
              <a:t>Mean ± SD over six outer folds. SD is descriptive; these folds are dependent.</a:t>
            </a:r>
          </a:p>
          <a:p>
            <a:r>
              <a:t>Source: Development CV evidence • historical test excluded • docs/portfolio-audit.md</a:t>
            </a:r>
          </a:p>
          <a:p>
            <a:r>
              <a:t>Local project artifact; see theory_guide.pdf for definitions and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Trees: moderate controls, matched search paths</a:t>
            </a:r>
          </a:p>
          <a:p>
            <a:r>
              <a:t>No early stopping: tree counts are inner-selected. Weighted and unweighted searches share eight candidates.</a:t>
            </a:r>
          </a:p>
          <a:p>
            <a:r>
              <a:t>Source: Development CV evidence • historical test excluded • docs/portfolio-audit.md</a:t>
            </a:r>
          </a:p>
          <a:p>
            <a:r>
              <a:t>Local project artifact; see theory_guide.pdf for definitions and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Paired changes include negative findings</a:t>
            </a:r>
          </a:p>
          <a:p>
            <a:r>
              <a:t>Dots show all six paired outer-fold AP changes; diamonds are means. No favorable seed was selected.</a:t>
            </a:r>
          </a:p>
          <a:p>
            <a:r>
              <a:t>Source: Development CV evidence • historical test excluded • docs/portfolio-audit.md</a:t>
            </a:r>
          </a:p>
          <a:p>
            <a:r>
              <a:t>Local project artifact; see theory_guide.pdf for definitions and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Feature selection is not automatically an improvement</a:t>
            </a:r>
          </a:p>
          <a:p>
            <a:r>
              <a:t>Whole raw fields preserve one-hot groups; dimensions and active sets vary across training folds.</a:t>
            </a:r>
          </a:p>
          <a:p>
            <a:r>
              <a:t>Source: Development CV evidence • historical test excluded • docs/portfolio-audit.md</a:t>
            </a:r>
          </a:p>
          <a:p>
            <a:r>
              <a:t>Local project artifact; see theory_guide.pdf for definitions and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Calibration is a separate probability experiment</a:t>
            </a:r>
          </a:p>
          <a:p>
            <a:r>
              <a:t>A regularized monotone sigmoid fits natural-prevalence rows independently of model fitting and thresholds.</a:t>
            </a:r>
          </a:p>
          <a:p>
            <a:r>
              <a:t>Source: Development CV evidence • historical test excluded • docs/portfolio-audit.md</a:t>
            </a:r>
          </a:p>
          <a:p>
            <a:r>
              <a:t>Local project artifact; see theory_guide.pdf for definitions and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fitting diagnosis: the intercept was penalized</a:t>
            </a:r>
          </a:p>
          <a:p>
            <a:r>
              <a:t>Adaptive follow-up, reported separately. It uses the same folds and C grids; it is not independent confirmation.</a:t>
            </a:r>
          </a:p>
          <a:p>
            <a:r>
              <a:t>Source: Development CV evidence • historical test excluded • docs/portfolio-audit.md</a:t>
            </a:r>
          </a:p>
          <a:p>
            <a:r>
              <a:t>Local project artifact; see theory_guide.pdf for definitions and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Primary procedure-level results</a:t>
            </a:r>
          </a:p>
          <a:p>
            <a:r>
              <a:t>Each family chooses its recipe by inner AP only. These are development estimates, not a new test result.</a:t>
            </a:r>
          </a:p>
          <a:p>
            <a:r>
              <a:t>Source: Development CV evidence • historical test excluded • docs/portfolio-audit.md</a:t>
            </a:r>
          </a:p>
          <a:p>
            <a:r>
              <a:t>Local project artifact; see theory_guide.pdf for definitions and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Ranking curves need scope</a:t>
            </a:r>
          </a:p>
          <a:p>
            <a:r>
              <a:t>Repeat 0 pooled outer-development scores. Pooled AP and mean fold AP are different summaries.</a:t>
            </a:r>
          </a:p>
          <a:p>
            <a:r>
              <a:t>Source: Development CV evidence • historical test excluded • docs/portfolio-audit.md</a:t>
            </a:r>
          </a:p>
          <a:p>
            <a:r>
              <a:t>Local project artifact; see theory_guide.pdf for definitions and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Probability reliability remains uncertain</a:t>
            </a:r>
          </a:p>
          <a:p>
            <a:r>
              <a:t>Repeat 0 pooled outer-development predictions; the fitted calibration subsets contain only ≈20 defaults each.</a:t>
            </a:r>
          </a:p>
          <a:p>
            <a:r>
              <a:t>Source: Development CV evidence • historical test excluded • docs/portfolio-audit.md</a:t>
            </a:r>
          </a:p>
          <a:p>
            <a:r>
              <a:t>Local project artifact; see theory_guide.pdf for definitions and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F2 thresholds still create substantial workload</a:t>
            </a:r>
          </a:p>
          <a:p>
            <a:r>
              <a:t>F2 is a stated recall preference, not a monetary cost model. Values are outer-fold means.</a:t>
            </a:r>
          </a:p>
          <a:p>
            <a:r>
              <a:t>Source: Development CV evidence • historical test excluded • docs/portfolio-audit.md</a:t>
            </a:r>
          </a:p>
          <a:p>
            <a:r>
              <a:t>Local project artifact; see theory_guide.pdf for definitions and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There is signal; no ceiling is established</a:t>
            </a:r>
          </a:p>
          <a:p>
            <a:r>
              <a:t>Fixed clipped L2 C=.03, three-fold development CV, 99 shuffled-label controls.</a:t>
            </a:r>
          </a:p>
          <a:p>
            <a:r>
              <a:t>Source: Development CV evidence • historical test excluded • docs/portfolio-audit.md</a:t>
            </a:r>
          </a:p>
          <a:p>
            <a:r>
              <a:t>Local project artifact; see theory_guide.pdf for definitions and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Uncertainty rules out a strong winner claim</a:t>
            </a:r>
          </a:p>
          <a:p>
            <a:r>
              <a:t>Original rows are paired across repeats in the bootstrap; model refitting is not included.</a:t>
            </a:r>
          </a:p>
          <a:p>
            <a:r>
              <a:t>Source: Development CV evidence • historical test excluded • docs/portfolio-audit.md</a:t>
            </a:r>
          </a:p>
          <a:p>
            <a:r>
              <a:t>Local project artifact; see theory_guide.pdf for definitions and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families: strengths and costs</a:t>
            </a:r>
          </a:p>
          <a:p>
            <a:r>
              <a:t>Interpretability does not compensate for poor probability estimates or incomplete data provenance.</a:t>
            </a:r>
          </a:p>
          <a:p>
            <a:r>
              <a:t>Source: Development CV evidence • historical test excluded • docs/portfolio-audit.md</a:t>
            </a:r>
          </a:p>
          <a:p>
            <a:r>
              <a:t>Local project artifact; see theory_guide.pdf for definitions and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Expanded interpretation, without favorable-case selection</a:t>
            </a:r>
          </a:p>
          <a:p>
            <a:r>
              <a:t>Predeclared outer repeat 0/fold 0; recipe chosen by inner AP. No historical test explanations are added.</a:t>
            </a:r>
          </a:p>
          <a:p>
            <a:r>
              <a:t>Source: Development CV evidence • historical test excluded • docs/portfolio-audit.md</a:t>
            </a:r>
          </a:p>
          <a:p>
            <a:r>
              <a:t>Local project artifact; see theory_guide.pdf for definitions and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Native glassbox: actual fitted output</a:t>
            </a:r>
          </a:p>
          <a:p>
            <a:r>
              <a:t>Coefficient signs describe the base logistic margin; tree gain is unsigned training split importance.</a:t>
            </a:r>
          </a:p>
          <a:p>
            <a:r>
              <a:t>Source: Development CV evidence • historical test excluded • docs/portfolio-audit.md</a:t>
            </a:r>
          </a:p>
          <a:p>
            <a:r>
              <a:t>Local project artifact; see theory_guide.pdf for definitions and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Native blackbox: actual fitted output</a:t>
            </a:r>
          </a:p>
          <a:p>
            <a:r>
              <a:t>Coefficient signs describe the base logistic margin; tree gain is unsigned training split importance.</a:t>
            </a:r>
          </a:p>
          <a:p>
            <a:r>
              <a:t>Source: Development CV evidence • historical test excluded • docs/portfolio-audit.md</a:t>
            </a:r>
          </a:p>
          <a:p>
            <a:r>
              <a:t>Local project artifact; see theory_guide.pdf for definitions and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Global SHAP: glassbox, 800 development rows</a:t>
            </a:r>
          </a:p>
          <a:p>
            <a:r>
              <a:t>Mean absolute base-log-odds attribution averaged across three training backgrounds.</a:t>
            </a:r>
          </a:p>
          <a:p>
            <a:r>
              <a:t>Source: Development CV evidence • historical test excluded • docs/portfolio-audit.md</a:t>
            </a:r>
          </a:p>
          <a:p>
            <a:r>
              <a:t>Local project artifact; see theory_guide.pdf for definitions and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Global SHAP: blackbox, 800 development rows</a:t>
            </a:r>
          </a:p>
          <a:p>
            <a:r>
              <a:t>Mean absolute base-log-odds attribution averaged across three training backgrounds.</a:t>
            </a:r>
          </a:p>
          <a:p>
            <a:r>
              <a:t>Source: Development CV evidence • historical test excluded • docs/portfolio-audit.md</a:t>
            </a:r>
          </a:p>
          <a:p>
            <a:r>
              <a:t>Local project artifact; see theory_guide.pdf for definitions and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Error analysis: glassbox, a missed default</a:t>
            </a:r>
          </a:p>
          <a:p>
            <a:r>
              <a:t>First randomly sampled FN in the fixed development fold; signed effects explain the base classifier.</a:t>
            </a:r>
          </a:p>
          <a:p>
            <a:r>
              <a:t>Source: Development CV evidence • historical test excluded • docs/portfolio-audit.md</a:t>
            </a:r>
          </a:p>
          <a:p>
            <a:r>
              <a:t>Local project artifact; see theory_guide.pdf for definitions and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Error analysis: blackbox, a missed default</a:t>
            </a:r>
          </a:p>
          <a:p>
            <a:r>
              <a:t>First randomly sampled FN in the fixed development fold; signed effects explain the base classifier.</a:t>
            </a:r>
          </a:p>
          <a:p>
            <a:r>
              <a:t>Source: Development CV evidence • historical test excluded • docs/portfolio-audit.md</a:t>
            </a:r>
          </a:p>
          <a:p>
            <a:r>
              <a:t>Local project artifact; see theory_guide.pdf for definitions and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Correlated fields can redistribute credit</a:t>
            </a:r>
          </a:p>
          <a:p>
            <a:r>
              <a:t>Fit-only correlation groups sum signed SHAP terms before taking mean absolute magnitude.</a:t>
            </a:r>
          </a:p>
          <a:p>
            <a:r>
              <a:t>Source: Development CV evidence • historical test excluded • docs/portfolio-audit.md</a:t>
            </a:r>
          </a:p>
          <a:p>
            <a:r>
              <a:t>Local project artifact; see theory_guide.pdf for definitions and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Explanation stability has several meanings</a:t>
            </a:r>
          </a:p>
          <a:p>
            <a:r>
              <a:t>Background stability does not establish retraining stability, causal validity or subgroup fairness.</a:t>
            </a:r>
          </a:p>
          <a:p>
            <a:r>
              <a:t>Source: Development CV evidence • historical test excluded • docs/portfolio-audit.md</a:t>
            </a:r>
          </a:p>
          <a:p>
            <a:r>
              <a:t>Local project artifact; see theory_guide.pdf for definitions and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LIME fidelity is weak for this tree model</a:t>
            </a:r>
          </a:p>
          <a:p>
            <a:r>
              <a:t>32 cases/family × 3 seeds × 2,000 perturbations; synthetic-neighborhood R² is not held-out faithfulness.</a:t>
            </a:r>
          </a:p>
          <a:p>
            <a:r>
              <a:t>Source: Development CV evidence • historical test excluded • docs/portfolio-audit.md</a:t>
            </a:r>
          </a:p>
          <a:p>
            <a:r>
              <a:t>Local project artifact; see theory_guide.pdf for definitions and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Successes and errors are all retained</a:t>
            </a:r>
          </a:p>
          <a:p>
            <a:r>
              <a:t>Balanced confusion-cell sampling is illustrative; it is not a population-weighted case distribution.</a:t>
            </a:r>
          </a:p>
          <a:p>
            <a:r>
              <a:t>Source: Development CV evidence • historical test excluded • docs/portfolio-audit.md</a:t>
            </a:r>
          </a:p>
          <a:p>
            <a:r>
              <a:t>Local project artifact; see theory_guide.pdf for definitions and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Reproducibility is part of the result</a:t>
            </a:r>
          </a:p>
          <a:p>
            <a:r>
              <a:t>Every new saved model and every role boundary was checked; historical artifacts were preserved.</a:t>
            </a:r>
          </a:p>
          <a:p>
            <a:r>
              <a:t>Source: Development CV evidence • historical test excluded • docs/portfolio-audit.md</a:t>
            </a:r>
          </a:p>
          <a:p>
            <a:r>
              <a:t>Local project artifact; see theory_guide.pdf for definitions and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would make this deployment evidence?</a:t>
            </a:r>
          </a:p>
          <a:p>
            <a:r>
              <a:t>Implemented: rigorous local development study. Proposed: external validation and operational design.</a:t>
            </a:r>
          </a:p>
          <a:p>
            <a:r>
              <a:t>Source: Development CV evidence • historical test excluded • docs/portfolio-audit.md</a:t>
            </a:r>
          </a:p>
          <a:p>
            <a:r>
              <a:t>Local project artifact; see theory_guide.pdf for definitions and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and methods</a:t>
            </a:r>
          </a:p>
          <a:p>
            <a:r>
              <a:t>Technical report, theory guide and compact machine-readable evidence accompany this presentation.</a:t>
            </a:r>
          </a:p>
          <a:p>
            <a:r>
              <a:t>Source: Development CV evidence • historical test excluded • docs/portfolio-audit.md</a:t>
            </a:r>
          </a:p>
          <a:p>
            <a:r>
              <a:t>Local project artifact; see theory_guide.pdf for definitions and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04800"/>
            <a:ext cx="11087100" cy="215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000" b="1">
                <a:solidFill>
                  <a:srgbClr val="63D0D0"/>
                </a:solidFill>
                <a:latin typeface="DejaVu Sans"/>
              </a:defRPr>
            </a:pPr>
            <a:r>
              <a:t>CREDIT MODEL STUDY  /  16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647700"/>
            <a:ext cx="11087100" cy="48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900" b="1">
                <a:solidFill>
                  <a:srgbClr val="FFFFFF"/>
                </a:solidFill>
                <a:latin typeface="DejaVu Sans"/>
              </a:defRPr>
            </a:pPr>
            <a:r>
              <a:t>Credit modeling: defensible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549400"/>
            <a:ext cx="110871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CFDCE4"/>
                </a:solidFill>
                <a:latin typeface="DejaVu Sans"/>
              </a:defRPr>
            </a:pPr>
            <a:r>
              <a:t>A reproducible portfolio audit of logistic regression and XGBoost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8500" y="2349500"/>
            <a:ext cx="10833100" cy="552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3000" b="1">
                <a:solidFill>
                  <a:srgbClr val="FFFFFF"/>
                </a:solidFill>
                <a:latin typeface="DejaVu Sans"/>
              </a:defRPr>
            </a:pPr>
            <a:r>
              <a:t>Signal, uncertainty and failure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" y="3213100"/>
            <a:ext cx="10769600" cy="4324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300" b="0">
                <a:solidFill>
                  <a:srgbClr val="63D0D0"/>
                </a:solidFill>
                <a:latin typeface="DejaVu Sans"/>
              </a:defRPr>
            </a:pPr>
            <a:r>
              <a:t>Data audit → controlled ablations → nested development CV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3607435"/>
            <a:ext cx="10769600" cy="4324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300" b="0">
                <a:solidFill>
                  <a:srgbClr val="63D0D0"/>
                </a:solidFill>
                <a:latin typeface="DejaVu Sans"/>
              </a:defRPr>
            </a:pPr>
            <a:r>
              <a:t>calibration → interpretation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4889500"/>
            <a:ext cx="10833100" cy="3467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800" b="0">
                <a:solidFill>
                  <a:srgbClr val="FFFFFF"/>
                </a:solidFill>
                <a:latin typeface="DejaVu Sans"/>
              </a:defRPr>
            </a:pPr>
            <a:r>
              <a:t>Historical test repeatedly inspected; excluded from every new experiment.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6502400"/>
            <a:ext cx="103251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CFDCE4"/>
                </a:solidFill>
                <a:latin typeface="DejaVu Sans"/>
              </a:defRPr>
            </a:pPr>
            <a:r>
              <a:t>Development CV evidence • historical test excluded • docs/portfolio-audit.md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12500" y="6502400"/>
            <a:ext cx="7366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FFFFFF"/>
                </a:solidFill>
                <a:latin typeface="DejaVu Sans"/>
              </a:defRPr>
            </a:pPr>
            <a:r>
              <a:t>01 / 35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04800"/>
            <a:ext cx="11087100" cy="215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000" b="1">
                <a:solidFill>
                  <a:srgbClr val="087F8C"/>
                </a:solidFill>
                <a:latin typeface="DejaVu Sans"/>
              </a:defRPr>
            </a:pPr>
            <a:r>
              <a:t>CREDIT MODEL STUDY  /  16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647700"/>
            <a:ext cx="11087100" cy="48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900" b="1">
                <a:solidFill>
                  <a:srgbClr val="152B3A"/>
                </a:solidFill>
                <a:latin typeface="DejaVu Sans"/>
              </a:defRPr>
            </a:pPr>
            <a:r>
              <a:t>The outcome is a stronger study, not a score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549400"/>
            <a:ext cx="110871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46774"/>
                </a:solidFill>
                <a:latin typeface="DejaVu Sans"/>
              </a:defRPr>
            </a:pPr>
            <a:r>
              <a:t>Both families have modest development signal. The evidence also shows overfitting and costly operating points.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968500"/>
            <a:ext cx="3471333" cy="1625600"/>
          </a:xfrm>
          <a:prstGeom prst="rect">
            <a:avLst/>
          </a:prstGeom>
          <a:solidFill>
            <a:srgbClr val="F6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5500" y="2146300"/>
            <a:ext cx="3128433" cy="2266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100" b="1">
                <a:solidFill>
                  <a:srgbClr val="546774"/>
                </a:solidFill>
                <a:latin typeface="DejaVu Sans"/>
              </a:defRPr>
            </a:pPr>
            <a:r>
              <a:t>GLASSBOX SELECTOR 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2451100"/>
            <a:ext cx="3128433" cy="569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3100" b="1">
                <a:solidFill>
                  <a:srgbClr val="087F8C"/>
                </a:solidFill>
                <a:latin typeface="DejaVu Sans"/>
              </a:defRPr>
            </a:pPr>
            <a:r>
              <a:t>0.131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500" y="3098800"/>
            <a:ext cx="3128433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546774"/>
                </a:solidFill>
                <a:latin typeface="DejaVu Sans"/>
              </a:defRPr>
            </a:pPr>
            <a:r>
              <a:t>Fold SD 0.033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333" y="1968500"/>
            <a:ext cx="3471333" cy="1625600"/>
          </a:xfrm>
          <a:prstGeom prst="rect">
            <a:avLst/>
          </a:prstGeom>
          <a:solidFill>
            <a:srgbClr val="F6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0833" y="2146300"/>
            <a:ext cx="3128433" cy="2266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100" b="1">
                <a:solidFill>
                  <a:srgbClr val="546774"/>
                </a:solidFill>
                <a:latin typeface="DejaVu Sans"/>
              </a:defRPr>
            </a:pPr>
            <a:r>
              <a:t>BLACKBOX SELECTOR 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0833" y="2451100"/>
            <a:ext cx="3128433" cy="569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3100" b="1">
                <a:solidFill>
                  <a:srgbClr val="B36B00"/>
                </a:solidFill>
                <a:latin typeface="DejaVu Sans"/>
              </a:defRPr>
            </a:pPr>
            <a:r>
              <a:t>0.131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0833" y="3098800"/>
            <a:ext cx="3128433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546774"/>
                </a:solidFill>
                <a:latin typeface="DejaVu Sans"/>
              </a:defRPr>
            </a:pPr>
            <a:r>
              <a:t>Fold SD 0.010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85666" y="1968500"/>
            <a:ext cx="3471333" cy="1625600"/>
          </a:xfrm>
          <a:prstGeom prst="rect">
            <a:avLst/>
          </a:prstGeom>
          <a:solidFill>
            <a:srgbClr val="F6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6166" y="2146300"/>
            <a:ext cx="3128433" cy="2266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100" b="1">
                <a:solidFill>
                  <a:srgbClr val="546774"/>
                </a:solidFill>
                <a:latin typeface="DejaVu Sans"/>
              </a:defRPr>
            </a:pPr>
            <a:r>
              <a:t>DUMMY 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6166" y="2451100"/>
            <a:ext cx="3128433" cy="569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3100" b="1">
                <a:solidFill>
                  <a:srgbClr val="152B3A"/>
                </a:solidFill>
                <a:latin typeface="DejaVu Sans"/>
              </a:defRPr>
            </a:pPr>
            <a:r>
              <a:t>0.061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6166" y="3098800"/>
            <a:ext cx="3128433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546774"/>
                </a:solidFill>
                <a:latin typeface="DejaVu Sans"/>
              </a:defRPr>
            </a:pPr>
            <a:r>
              <a:t>Natural-prevalence reference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000" y="4241800"/>
            <a:ext cx="50800" cy="1143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3600" y="4152900"/>
            <a:ext cx="10604500" cy="381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000" b="0">
                <a:solidFill>
                  <a:srgbClr val="152B3A"/>
                </a:solidFill>
                <a:latin typeface="DejaVu Sans"/>
              </a:defRPr>
            </a:pPr>
            <a:r>
              <a:t>Outlier handling matters; additional feature removal is mixed.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000" y="4813300"/>
            <a:ext cx="50800" cy="1143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3600" y="4724400"/>
            <a:ext cx="10604500" cy="381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000" b="0">
                <a:solidFill>
                  <a:srgbClr val="152B3A"/>
                </a:solidFill>
                <a:latin typeface="DejaVu Sans"/>
              </a:defRPr>
            </a:pPr>
            <a:r>
              <a:t>Separate calibration repairs probability levels. Neither family has proven universal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3600" y="5067300"/>
            <a:ext cx="10604500" cy="381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000" b="0">
                <a:solidFill>
                  <a:srgbClr val="152B3A"/>
                </a:solidFill>
                <a:latin typeface="DejaVu Sans"/>
              </a:defRPr>
            </a:pPr>
            <a:r>
              <a:t>superiority.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500" y="6502400"/>
            <a:ext cx="103251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546774"/>
                </a:solidFill>
                <a:latin typeface="DejaVu Sans"/>
              </a:defRPr>
            </a:pPr>
            <a:r>
              <a:t>Development CV evidence • historical test excluded • docs/portfolio-audit.md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12500" y="6502400"/>
            <a:ext cx="7366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152B3A"/>
                </a:solidFill>
                <a:latin typeface="DejaVu Sans"/>
              </a:defRPr>
            </a:pPr>
            <a:r>
              <a:t>02 / 35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04800"/>
            <a:ext cx="11087100" cy="215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000" b="1">
                <a:solidFill>
                  <a:srgbClr val="087F8C"/>
                </a:solidFill>
                <a:latin typeface="DejaVu Sans"/>
              </a:defRPr>
            </a:pPr>
            <a:r>
              <a:t>CREDIT MODEL STUDY  /  16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647700"/>
            <a:ext cx="11087100" cy="48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900" b="1">
                <a:solidFill>
                  <a:srgbClr val="152B3A"/>
                </a:solidFill>
                <a:latin typeface="DejaVu Sans"/>
              </a:defRPr>
            </a:pPr>
            <a:r>
              <a:t>Data provenance remains the main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092200"/>
            <a:ext cx="11087100" cy="48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900" b="1">
                <a:solidFill>
                  <a:srgbClr val="152B3A"/>
                </a:solidFill>
                <a:latin typeface="DejaVu Sans"/>
              </a:defRPr>
            </a:pPr>
            <a:r>
              <a:t>blocker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549400"/>
            <a:ext cx="110871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46774"/>
                </a:solidFill>
                <a:latin typeface="DejaVu Sans"/>
              </a:defRPr>
            </a:pPr>
            <a:r>
              <a:t>Binary labels are observed; a default horizon, decision dates and borrower identities are not documented.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" y="1905000"/>
            <a:ext cx="11049000" cy="622300"/>
          </a:xfrm>
          <a:prstGeom prst="rect">
            <a:avLst/>
          </a:prstGeom>
          <a:solidFill>
            <a:srgbClr val="15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8500" y="2032000"/>
            <a:ext cx="519811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1">
                <a:solidFill>
                  <a:srgbClr val="FFFFFF"/>
                </a:solidFill>
                <a:latin typeface="DejaVu Sans"/>
              </a:defRPr>
            </a:pPr>
            <a:r>
              <a:t>Verified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12510" y="2032000"/>
            <a:ext cx="541909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1">
                <a:solidFill>
                  <a:srgbClr val="FFFFFF"/>
                </a:solidFill>
                <a:latin typeface="DejaVu Sans"/>
              </a:defRPr>
            </a:pPr>
            <a:r>
              <a:t>Unresolved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" y="2527300"/>
            <a:ext cx="11049000" cy="622300"/>
          </a:xfrm>
          <a:prstGeom prst="rect">
            <a:avLst/>
          </a:prstGeom>
          <a:solidFill>
            <a:srgbClr val="F6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8500" y="2654300"/>
            <a:ext cx="519811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1">
                <a:solidFill>
                  <a:srgbClr val="152B3A"/>
                </a:solidFill>
                <a:latin typeface="DejaVu Sans"/>
              </a:defRPr>
            </a:pPr>
            <a:r>
              <a:t>3,000 rows / 183 defaults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12510" y="2654300"/>
            <a:ext cx="541909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0">
                <a:solidFill>
                  <a:srgbClr val="152B3A"/>
                </a:solidFill>
                <a:latin typeface="DejaVu Sans"/>
              </a:defRPr>
            </a:pPr>
            <a:r>
              <a:t>Default event definition and horizon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3149600"/>
            <a:ext cx="11049000" cy="6223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8500" y="3276600"/>
            <a:ext cx="519811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1">
                <a:solidFill>
                  <a:srgbClr val="152B3A"/>
                </a:solidFill>
                <a:latin typeface="DejaVu Sans"/>
              </a:defRPr>
            </a:pPr>
            <a:r>
              <a:t>218 configured raw predictors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12510" y="3276600"/>
            <a:ext cx="541909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0">
                <a:solidFill>
                  <a:srgbClr val="152B3A"/>
                </a:solidFill>
                <a:latin typeface="DejaVu Sans"/>
              </a:defRPr>
            </a:pPr>
            <a:r>
              <a:t>Feature availability at decision time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1500" y="3771900"/>
            <a:ext cx="11049000" cy="622300"/>
          </a:xfrm>
          <a:prstGeom prst="rect">
            <a:avLst/>
          </a:prstGeom>
          <a:solidFill>
            <a:srgbClr val="F6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8500" y="3898900"/>
            <a:ext cx="519811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1">
                <a:solidFill>
                  <a:srgbClr val="152B3A"/>
                </a:solidFill>
                <a:latin typeface="DejaVu Sans"/>
              </a:defRPr>
            </a:pPr>
            <a:r>
              <a:t>No exact duplicate records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12510" y="3898900"/>
            <a:ext cx="541909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0">
                <a:solidFill>
                  <a:srgbClr val="152B3A"/>
                </a:solidFill>
                <a:latin typeface="DejaVu Sans"/>
              </a:defRPr>
            </a:pPr>
            <a:r>
              <a:t>Repeated borrowers cannot be excluded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1500" y="4394200"/>
            <a:ext cx="11049000" cy="6223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8500" y="4521200"/>
            <a:ext cx="519811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1">
                <a:solidFill>
                  <a:srgbClr val="152B3A"/>
                </a:solidFill>
                <a:latin typeface="DejaVu Sans"/>
              </a:defRPr>
            </a:pPr>
            <a:r>
              <a:t>Historical 600-row exclusion frozen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12510" y="4521200"/>
            <a:ext cx="541909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0">
                <a:solidFill>
                  <a:srgbClr val="152B3A"/>
                </a:solidFill>
                <a:latin typeface="DejaVu Sans"/>
              </a:defRPr>
            </a:pPr>
            <a:r>
              <a:t>No new external or temporal cohort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1500" y="5016500"/>
            <a:ext cx="11049000" cy="622300"/>
          </a:xfrm>
          <a:prstGeom prst="rect">
            <a:avLst/>
          </a:prstGeom>
          <a:solidFill>
            <a:srgbClr val="F6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8500" y="5143500"/>
            <a:ext cx="519811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1">
                <a:solidFill>
                  <a:srgbClr val="152B3A"/>
                </a:solidFill>
                <a:latin typeface="DejaVu Sans"/>
              </a:defRPr>
            </a:pPr>
            <a:r>
              <a:t>2,400 development rows / 146 defaults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12510" y="5143500"/>
            <a:ext cx="541909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0">
                <a:solidFill>
                  <a:srgbClr val="152B3A"/>
                </a:solidFill>
                <a:latin typeface="DejaVu Sans"/>
              </a:defRPr>
            </a:pPr>
            <a:r>
              <a:t>No verified timestamps for temporal validation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" y="6502400"/>
            <a:ext cx="103251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546774"/>
                </a:solidFill>
                <a:latin typeface="DejaVu Sans"/>
              </a:defRPr>
            </a:pPr>
            <a:r>
              <a:t>Development CV evidence • historical test excluded • docs/portfolio-audit.md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12500" y="6502400"/>
            <a:ext cx="7366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152B3A"/>
                </a:solidFill>
                <a:latin typeface="DejaVu Sans"/>
              </a:defRPr>
            </a:pPr>
            <a:r>
              <a:t>03 / 35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04800"/>
            <a:ext cx="11087100" cy="215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000" b="1">
                <a:solidFill>
                  <a:srgbClr val="087F8C"/>
                </a:solidFill>
                <a:latin typeface="DejaVu Sans"/>
              </a:defRPr>
            </a:pPr>
            <a:r>
              <a:t>CREDIT MODEL STUDY  /  16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647700"/>
            <a:ext cx="11087100" cy="48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900" b="1">
                <a:solidFill>
                  <a:srgbClr val="152B3A"/>
                </a:solidFill>
                <a:latin typeface="DejaVu Sans"/>
              </a:defRPr>
            </a:pPr>
            <a:r>
              <a:t>The audit found concrete quality problems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549400"/>
            <a:ext cx="110871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46774"/>
                </a:solidFill>
                <a:latin typeface="DejaVu Sans"/>
              </a:defRPr>
            </a:pPr>
            <a:r>
              <a:t>These are measured problems; near-zero denominators and post-outcome leakage remain hypotheses.</a:t>
            </a:r>
          </a:p>
        </p:txBody>
      </p:sp>
      <p:pic>
        <p:nvPicPr>
          <p:cNvPr id="5" name="Picture 4" descr="data_qu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14" y="1841500"/>
            <a:ext cx="11050371" cy="4127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6502400"/>
            <a:ext cx="103251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546774"/>
                </a:solidFill>
                <a:latin typeface="DejaVu Sans"/>
              </a:defRPr>
            </a:pPr>
            <a:r>
              <a:t>Development CV evidence • historical test excluded • docs/portfolio-audit.md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500" y="6502400"/>
            <a:ext cx="7366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152B3A"/>
                </a:solidFill>
                <a:latin typeface="DejaVu Sans"/>
              </a:defRPr>
            </a:pPr>
            <a:r>
              <a:t>04 / 35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04800"/>
            <a:ext cx="11087100" cy="215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000" b="1">
                <a:solidFill>
                  <a:srgbClr val="087F8C"/>
                </a:solidFill>
                <a:latin typeface="DejaVu Sans"/>
              </a:defRPr>
            </a:pPr>
            <a:r>
              <a:t>CREDIT MODEL STUDY  /  16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647700"/>
            <a:ext cx="11087100" cy="48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900" b="1">
                <a:solidFill>
                  <a:srgbClr val="152B3A"/>
                </a:solidFill>
                <a:latin typeface="DejaVu Sans"/>
              </a:defRPr>
            </a:pPr>
            <a:r>
              <a:t>Redundancy is real, but removal needs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549400"/>
            <a:ext cx="110871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46774"/>
                </a:solidFill>
                <a:latin typeface="DejaVu Sans"/>
              </a:defRPr>
            </a:pPr>
            <a:r>
              <a:t>Eight exact duplicate field pairs; 66 numerical pairs with |Spearman rho| ≥ .98 on development data.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993900"/>
            <a:ext cx="50800" cy="1143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3600" y="1905000"/>
            <a:ext cx="10604500" cy="3467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800" b="0">
                <a:solidFill>
                  <a:srgbClr val="152B3A"/>
                </a:solidFill>
                <a:latin typeface="DejaVu Sans"/>
              </a:defRPr>
            </a:pPr>
            <a:r>
              <a:t>Example exact duplicates: wsk_ROS / wsk_rent_sprzedazy; wsk_koszty_przychody 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3600" y="2213610"/>
            <a:ext cx="10604500" cy="3467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800" b="0">
                <a:solidFill>
                  <a:srgbClr val="152B3A"/>
                </a:solidFill>
                <a:latin typeface="DejaVu Sans"/>
              </a:defRPr>
            </a:pPr>
            <a:r>
              <a:t>wsk_poziom_kosztow_operacyjnych.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" y="2788920"/>
            <a:ext cx="50800" cy="1143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600" y="2700020"/>
            <a:ext cx="10604500" cy="3467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800" b="0">
                <a:solidFill>
                  <a:srgbClr val="152B3A"/>
                </a:solidFill>
                <a:latin typeface="DejaVu Sans"/>
              </a:defRPr>
            </a:pPr>
            <a:r>
              <a:t>Some ratios reach about 10^17; 1,014 infinite cells occur in the supplied full CSV.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275329"/>
            <a:ext cx="50800" cy="1143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600" y="3186430"/>
            <a:ext cx="10604500" cy="3467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800" b="0">
                <a:solidFill>
                  <a:srgbClr val="152B3A"/>
                </a:solidFill>
                <a:latin typeface="DejaVu Sans"/>
              </a:defRPr>
            </a:pPr>
            <a:r>
              <a:t>Two coincident four-field profiles are not verified borrower IDs. No complete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3600" y="3495040"/>
            <a:ext cx="10604500" cy="3467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800" b="0">
                <a:solidFill>
                  <a:srgbClr val="152B3A"/>
                </a:solidFill>
                <a:latin typeface="DejaVu Sans"/>
              </a:defRPr>
            </a:pPr>
            <a:r>
              <a:t>borrower-aware split is supported.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000" y="4070350"/>
            <a:ext cx="50800" cy="1143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3600" y="3981450"/>
            <a:ext cx="10604500" cy="3467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800" b="0">
                <a:solidFill>
                  <a:srgbClr val="152B3A"/>
                </a:solidFill>
                <a:latin typeface="DejaVu Sans"/>
              </a:defRPr>
            </a:pPr>
            <a:r>
              <a:t>Every raw field’s prediction-time availability remains explicitly unverified.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" y="6502400"/>
            <a:ext cx="103251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546774"/>
                </a:solidFill>
                <a:latin typeface="DejaVu Sans"/>
              </a:defRPr>
            </a:pPr>
            <a:r>
              <a:t>Development CV evidence • historical test excluded • docs/portfolio-audit.md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12500" y="6502400"/>
            <a:ext cx="7366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152B3A"/>
                </a:solidFill>
                <a:latin typeface="DejaVu Sans"/>
              </a:defRPr>
            </a:pPr>
            <a:r>
              <a:t>05 / 35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04800"/>
            <a:ext cx="11087100" cy="215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000" b="1">
                <a:solidFill>
                  <a:srgbClr val="087F8C"/>
                </a:solidFill>
                <a:latin typeface="DejaVu Sans"/>
              </a:defRPr>
            </a:pPr>
            <a:r>
              <a:t>CREDIT MODEL STUDY  /  16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647700"/>
            <a:ext cx="11087100" cy="48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900" b="1">
                <a:solidFill>
                  <a:srgbClr val="152B3A"/>
                </a:solidFill>
                <a:latin typeface="DejaVu Sans"/>
              </a:defRPr>
            </a:pPr>
            <a:r>
              <a:t>Historical evidence showed overfit before the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549400"/>
            <a:ext cx="110871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46774"/>
                </a:solidFill>
                <a:latin typeface="DejaVu Sans"/>
              </a:defRPr>
            </a:pPr>
            <a:r>
              <a:t>Old training, validation and selected-CV results are diagnosis only; they do not select new models.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1905000"/>
            <a:ext cx="11049000" cy="685800"/>
          </a:xfrm>
          <a:prstGeom prst="rect">
            <a:avLst/>
          </a:prstGeom>
          <a:solidFill>
            <a:srgbClr val="15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2032000"/>
            <a:ext cx="453517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1">
                <a:solidFill>
                  <a:srgbClr val="FFFFFF"/>
                </a:solidFill>
                <a:latin typeface="DejaVu Sans"/>
              </a:defRPr>
            </a:pPr>
            <a:r>
              <a:t>Historical configuration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49570" y="2032000"/>
            <a:ext cx="188341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1">
                <a:solidFill>
                  <a:srgbClr val="FFFFFF"/>
                </a:solidFill>
                <a:latin typeface="DejaVu Sans"/>
              </a:defRPr>
            </a:pPr>
            <a:r>
              <a:t>Train 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8880" y="2032000"/>
            <a:ext cx="188341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1">
                <a:solidFill>
                  <a:srgbClr val="FFFFFF"/>
                </a:solidFill>
                <a:latin typeface="DejaVu Sans"/>
              </a:defRPr>
            </a:pPr>
            <a:r>
              <a:t>Validation 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8190" y="2032000"/>
            <a:ext cx="188341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1">
                <a:solidFill>
                  <a:srgbClr val="FFFFFF"/>
                </a:solidFill>
                <a:latin typeface="DejaVu Sans"/>
              </a:defRPr>
            </a:pPr>
            <a:r>
              <a:t>Selected CV AP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1500" y="2590800"/>
            <a:ext cx="11049000" cy="685800"/>
          </a:xfrm>
          <a:prstGeom prst="rect">
            <a:avLst/>
          </a:prstGeom>
          <a:solidFill>
            <a:srgbClr val="F6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8500" y="2717800"/>
            <a:ext cx="453517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1">
                <a:solidFill>
                  <a:srgbClr val="152B3A"/>
                </a:solidFill>
                <a:latin typeface="DejaVu Sans"/>
              </a:defRPr>
            </a:pPr>
            <a:r>
              <a:t>Logistic 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9570" y="2717800"/>
            <a:ext cx="188341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0">
                <a:solidFill>
                  <a:srgbClr val="152B3A"/>
                </a:solidFill>
                <a:latin typeface="DejaVu Sans"/>
              </a:defRPr>
            </a:pPr>
            <a:r>
              <a:t>0.611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8880" y="2717800"/>
            <a:ext cx="188341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0">
                <a:solidFill>
                  <a:srgbClr val="152B3A"/>
                </a:solidFill>
                <a:latin typeface="DejaVu Sans"/>
              </a:defRPr>
            </a:pPr>
            <a:r>
              <a:t>0.106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8190" y="2717800"/>
            <a:ext cx="188341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0">
                <a:solidFill>
                  <a:srgbClr val="152B3A"/>
                </a:solidFill>
                <a:latin typeface="DejaVu Sans"/>
              </a:defRPr>
            </a:pPr>
            <a:r>
              <a:t>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1500" y="3276600"/>
            <a:ext cx="1104900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8500" y="3403600"/>
            <a:ext cx="453517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1">
                <a:solidFill>
                  <a:srgbClr val="152B3A"/>
                </a:solidFill>
                <a:latin typeface="DejaVu Sans"/>
              </a:defRPr>
            </a:pPr>
            <a:r>
              <a:t>XGBoost baseline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9570" y="3403600"/>
            <a:ext cx="188341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0">
                <a:solidFill>
                  <a:srgbClr val="152B3A"/>
                </a:solidFill>
                <a:latin typeface="DejaVu Sans"/>
              </a:defRPr>
            </a:pPr>
            <a:r>
              <a:t>0.991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8880" y="3403600"/>
            <a:ext cx="188341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0">
                <a:solidFill>
                  <a:srgbClr val="152B3A"/>
                </a:solidFill>
                <a:latin typeface="DejaVu Sans"/>
              </a:defRPr>
            </a:pPr>
            <a:r>
              <a:t>0.186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8190" y="3403600"/>
            <a:ext cx="188341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0">
                <a:solidFill>
                  <a:srgbClr val="152B3A"/>
                </a:solidFill>
                <a:latin typeface="DejaVu Sans"/>
              </a:defRPr>
            </a:pPr>
            <a:r>
              <a:t>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1500" y="3962400"/>
            <a:ext cx="11049000" cy="685800"/>
          </a:xfrm>
          <a:prstGeom prst="rect">
            <a:avLst/>
          </a:prstGeom>
          <a:solidFill>
            <a:srgbClr val="F6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8500" y="4089400"/>
            <a:ext cx="453517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1">
                <a:solidFill>
                  <a:srgbClr val="152B3A"/>
                </a:solidFill>
                <a:latin typeface="DejaVu Sans"/>
              </a:defRPr>
            </a:pPr>
            <a:r>
              <a:t>Balanced L1 selection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9570" y="4089400"/>
            <a:ext cx="188341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0">
                <a:solidFill>
                  <a:srgbClr val="152B3A"/>
                </a:solidFill>
                <a:latin typeface="DejaVu Sans"/>
              </a:defRPr>
            </a:pPr>
            <a:r>
              <a:t>0.298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8880" y="4089400"/>
            <a:ext cx="188341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0">
                <a:solidFill>
                  <a:srgbClr val="152B3A"/>
                </a:solidFill>
                <a:latin typeface="DejaVu Sans"/>
              </a:defRPr>
            </a:pPr>
            <a:r>
              <a:t>0.140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48190" y="4089400"/>
            <a:ext cx="188341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0">
                <a:solidFill>
                  <a:srgbClr val="152B3A"/>
                </a:solidFill>
                <a:latin typeface="DejaVu Sans"/>
              </a:defRPr>
            </a:pPr>
            <a:r>
              <a:t>0.137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1500" y="4648200"/>
            <a:ext cx="1104900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8500" y="4775200"/>
            <a:ext cx="453517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1">
                <a:solidFill>
                  <a:srgbClr val="152B3A"/>
                </a:solidFill>
                <a:latin typeface="DejaVu Sans"/>
              </a:defRPr>
            </a:pPr>
            <a:r>
              <a:t>Heavily regularized XGBoost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9570" y="4775200"/>
            <a:ext cx="188341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0">
                <a:solidFill>
                  <a:srgbClr val="152B3A"/>
                </a:solidFill>
                <a:latin typeface="DejaVu Sans"/>
              </a:defRPr>
            </a:pPr>
            <a:r>
              <a:t>0.230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8880" y="4775200"/>
            <a:ext cx="188341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0">
                <a:solidFill>
                  <a:srgbClr val="152B3A"/>
                </a:solidFill>
                <a:latin typeface="DejaVu Sans"/>
              </a:defRPr>
            </a:pPr>
            <a:r>
              <a:t>0.172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8190" y="4775200"/>
            <a:ext cx="188341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0">
                <a:solidFill>
                  <a:srgbClr val="152B3A"/>
                </a:solidFill>
                <a:latin typeface="DejaVu Sans"/>
              </a:defRPr>
            </a:pPr>
            <a:r>
              <a:t>0.157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" y="5753100"/>
            <a:ext cx="1083310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0">
                <a:solidFill>
                  <a:srgbClr val="546774"/>
                </a:solidFill>
                <a:latin typeface="DejaVu Sans"/>
              </a:defRPr>
            </a:pPr>
            <a:r>
              <a:t>The old tree winner reduced variance and fitted signal. Investigate regularization and sampling, not test-tune.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00" y="6502400"/>
            <a:ext cx="103251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546774"/>
                </a:solidFill>
                <a:latin typeface="DejaVu Sans"/>
              </a:defRPr>
            </a:pPr>
            <a:r>
              <a:t>Development CV evidence • historical test excluded • docs/portfolio-audit.md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12500" y="6502400"/>
            <a:ext cx="7366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152B3A"/>
                </a:solidFill>
                <a:latin typeface="DejaVu Sans"/>
              </a:defRPr>
            </a:pPr>
            <a:r>
              <a:t>06 / 35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04800"/>
            <a:ext cx="11087100" cy="215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000" b="1">
                <a:solidFill>
                  <a:srgbClr val="087F8C"/>
                </a:solidFill>
                <a:latin typeface="DejaVu Sans"/>
              </a:defRPr>
            </a:pPr>
            <a:r>
              <a:t>CREDIT MODEL STUDY  /  16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647700"/>
            <a:ext cx="11087100" cy="48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900" b="1">
                <a:solidFill>
                  <a:srgbClr val="152B3A"/>
                </a:solidFill>
                <a:latin typeface="DejaVu Sans"/>
              </a:defRPr>
            </a:pPr>
            <a:r>
              <a:t>Repeated nested development CV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549400"/>
            <a:ext cx="110871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46774"/>
                </a:solidFill>
                <a:latin typeface="DejaVu Sans"/>
              </a:defRPr>
            </a:pPr>
            <a:r>
              <a:t>Two fixed repeats (42, 43) × three outer folds; three-fold inner AP selection.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6100" y="2324100"/>
            <a:ext cx="2603500" cy="2260600"/>
          </a:xfrm>
          <a:prstGeom prst="rect">
            <a:avLst/>
          </a:prstGeom>
          <a:solidFill>
            <a:srgbClr val="F0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1200" y="2540000"/>
            <a:ext cx="2311400" cy="501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700" b="1">
                <a:solidFill>
                  <a:srgbClr val="152B3A"/>
                </a:solidFill>
                <a:latin typeface="DejaVu Sans"/>
              </a:defRPr>
            </a:pPr>
            <a:r>
              <a:t>960 rows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1200" y="3162300"/>
            <a:ext cx="2298700" cy="3295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700" b="1">
                <a:solidFill>
                  <a:srgbClr val="087F8C"/>
                </a:solidFill>
                <a:latin typeface="DejaVu Sans"/>
              </a:defRPr>
            </a:pPr>
            <a:r>
              <a:t>Fit and inner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" y="3453765"/>
            <a:ext cx="2298700" cy="3295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700" b="1">
                <a:solidFill>
                  <a:srgbClr val="087F8C"/>
                </a:solidFill>
                <a:latin typeface="DejaVu Sans"/>
              </a:defRPr>
            </a:pPr>
            <a:r>
              <a:t>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4076700"/>
            <a:ext cx="229870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546774"/>
                </a:solidFill>
                <a:latin typeface="DejaVu Sans"/>
              </a:defRPr>
            </a:pPr>
            <a:r>
              <a:t>≈58–59 defaults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78200" y="2324100"/>
            <a:ext cx="2603500" cy="2260600"/>
          </a:xfrm>
          <a:prstGeom prst="rect">
            <a:avLst/>
          </a:prstGeom>
          <a:solidFill>
            <a:srgbClr val="F0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3300" y="2540000"/>
            <a:ext cx="2311400" cy="501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700" b="1">
                <a:solidFill>
                  <a:srgbClr val="152B3A"/>
                </a:solidFill>
                <a:latin typeface="DejaVu Sans"/>
              </a:defRPr>
            </a:pPr>
            <a:r>
              <a:t>320 rows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3300" y="3162300"/>
            <a:ext cx="2298700" cy="3295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700" b="1">
                <a:solidFill>
                  <a:srgbClr val="087F8C"/>
                </a:solidFill>
                <a:latin typeface="DejaVu Sans"/>
              </a:defRPr>
            </a:pPr>
            <a:r>
              <a:t>Independent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3300" y="3453765"/>
            <a:ext cx="2298700" cy="3295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700" b="1">
                <a:solidFill>
                  <a:srgbClr val="087F8C"/>
                </a:solidFill>
                <a:latin typeface="DejaVu Sans"/>
              </a:defRPr>
            </a:pPr>
            <a:r>
              <a:t>sigmoid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3300" y="4076700"/>
            <a:ext cx="229870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546774"/>
                </a:solidFill>
                <a:latin typeface="DejaVu Sans"/>
              </a:defRPr>
            </a:pPr>
            <a:r>
              <a:t>≈19–20 defaults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0300" y="2324100"/>
            <a:ext cx="2603500" cy="2260600"/>
          </a:xfrm>
          <a:prstGeom prst="rect">
            <a:avLst/>
          </a:prstGeom>
          <a:solidFill>
            <a:srgbClr val="F0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5400" y="2540000"/>
            <a:ext cx="2311400" cy="501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700" b="1">
                <a:solidFill>
                  <a:srgbClr val="152B3A"/>
                </a:solidFill>
                <a:latin typeface="DejaVu Sans"/>
              </a:defRPr>
            </a:pPr>
            <a:r>
              <a:t>320 rows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5400" y="3162300"/>
            <a:ext cx="2298700" cy="3295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700" b="1">
                <a:solidFill>
                  <a:srgbClr val="087F8C"/>
                </a:solidFill>
                <a:latin typeface="DejaVu Sans"/>
              </a:defRPr>
            </a:pPr>
            <a:r>
              <a:t>Independent F2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5400" y="3453765"/>
            <a:ext cx="2298700" cy="3295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700" b="1">
                <a:solidFill>
                  <a:srgbClr val="087F8C"/>
                </a:solidFill>
                <a:latin typeface="DejaVu Sans"/>
              </a:defRPr>
            </a:pPr>
            <a: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5400" y="4076700"/>
            <a:ext cx="229870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546774"/>
                </a:solidFill>
                <a:latin typeface="DejaVu Sans"/>
              </a:defRPr>
            </a:pPr>
            <a:r>
              <a:t>≈19–20 defaults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42400" y="2324100"/>
            <a:ext cx="2603500" cy="2260600"/>
          </a:xfrm>
          <a:prstGeom prst="rect">
            <a:avLst/>
          </a:prstGeom>
          <a:solidFill>
            <a:srgbClr val="F0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07500" y="2540000"/>
            <a:ext cx="2311400" cy="501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700" b="1">
                <a:solidFill>
                  <a:srgbClr val="152B3A"/>
                </a:solidFill>
                <a:latin typeface="DejaVu Sans"/>
              </a:defRPr>
            </a:pPr>
            <a:r>
              <a:t>800 rows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07500" y="3162300"/>
            <a:ext cx="2298700" cy="3295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700" b="1">
                <a:solidFill>
                  <a:srgbClr val="087F8C"/>
                </a:solidFill>
                <a:latin typeface="DejaVu Sans"/>
              </a:defRPr>
            </a:pPr>
            <a:r>
              <a:t>Outer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07500" y="3453765"/>
            <a:ext cx="2298700" cy="3295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700" b="1">
                <a:solidFill>
                  <a:srgbClr val="087F8C"/>
                </a:solidFill>
                <a:latin typeface="DejaVu Sans"/>
              </a:defRPr>
            </a:pPr>
            <a:r>
              <a:t>development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07500" y="3745229"/>
            <a:ext cx="2298700" cy="3295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700" b="1">
                <a:solidFill>
                  <a:srgbClr val="087F8C"/>
                </a:solidFill>
                <a:latin typeface="DejaVu Sans"/>
              </a:defRPr>
            </a:pPr>
            <a:r>
              <a:t>assessment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07500" y="4076700"/>
            <a:ext cx="229870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546774"/>
                </a:solidFill>
                <a:latin typeface="DejaVu Sans"/>
              </a:defRPr>
            </a:pPr>
            <a:r>
              <a:t>≈48–49 defaults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5219700"/>
            <a:ext cx="11023600" cy="3295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700" b="0">
                <a:solidFill>
                  <a:srgbClr val="152B3A"/>
                </a:solidFill>
                <a:latin typeface="DejaVu Sans"/>
              </a:defRPr>
            </a:pPr>
            <a:r>
              <a:t>All four roles are disjoint. This costs fitting data, but avoids sharing calibration and threshold labels.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5829300"/>
            <a:ext cx="1102360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0">
                <a:solidFill>
                  <a:srgbClr val="546774"/>
                </a:solidFill>
                <a:latin typeface="DejaVu Sans"/>
              </a:defRPr>
            </a:pPr>
            <a:r>
              <a:t>Random stratification is a documented limitation, not a substitute for missing borrower/time metadata.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500" y="6502400"/>
            <a:ext cx="103251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546774"/>
                </a:solidFill>
                <a:latin typeface="DejaVu Sans"/>
              </a:defRPr>
            </a:pPr>
            <a:r>
              <a:t>Development CV evidence • historical test excluded • docs/portfolio-audit.md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12500" y="6502400"/>
            <a:ext cx="7366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152B3A"/>
                </a:solidFill>
                <a:latin typeface="DejaVu Sans"/>
              </a:defRPr>
            </a:pPr>
            <a:r>
              <a:t>07 / 35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04800"/>
            <a:ext cx="11087100" cy="215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000" b="1">
                <a:solidFill>
                  <a:srgbClr val="087F8C"/>
                </a:solidFill>
                <a:latin typeface="DejaVu Sans"/>
              </a:defRPr>
            </a:pPr>
            <a:r>
              <a:t>CREDIT MODEL STUDY  /  16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647700"/>
            <a:ext cx="11087100" cy="48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900" b="1">
                <a:solidFill>
                  <a:srgbClr val="152B3A"/>
                </a:solidFill>
                <a:latin typeface="DejaVu Sans"/>
              </a:defRPr>
            </a:pPr>
            <a:r>
              <a:t>A small set of explicit experiment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549400"/>
            <a:ext cx="110871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46774"/>
                </a:solidFill>
                <a:latin typeface="DejaVu Sans"/>
              </a:defRPr>
            </a:pPr>
            <a:r>
              <a:t>All ablations use the same outer roles; feature settings are selected inside inner folds.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1905000"/>
            <a:ext cx="11049000" cy="609600"/>
          </a:xfrm>
          <a:prstGeom prst="rect">
            <a:avLst/>
          </a:prstGeom>
          <a:solidFill>
            <a:srgbClr val="15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2032000"/>
            <a:ext cx="254635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60750" y="2032000"/>
            <a:ext cx="807085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Controlled comparison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2514600"/>
            <a:ext cx="11049000" cy="609600"/>
          </a:xfrm>
          <a:prstGeom prst="rect">
            <a:avLst/>
          </a:prstGeom>
          <a:solidFill>
            <a:srgbClr val="F6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8500" y="2641600"/>
            <a:ext cx="254635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1">
                <a:solidFill>
                  <a:srgbClr val="152B3A"/>
                </a:solidFill>
                <a:latin typeface="DejaVu Sans"/>
              </a:defRPr>
            </a:pPr>
            <a:r>
              <a:t>Imbalance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0750" y="2641600"/>
            <a:ext cx="807085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52B3A"/>
                </a:solidFill>
                <a:latin typeface="DejaVu Sans"/>
              </a:defRPr>
            </a:pPr>
            <a:r>
              <a:t>Unweighted vs balanced logistic; identical tree candidates with fold weights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1500" y="3124200"/>
            <a:ext cx="11049000" cy="60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8500" y="3251200"/>
            <a:ext cx="254635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1">
                <a:solidFill>
                  <a:srgbClr val="152B3A"/>
                </a:solidFill>
                <a:latin typeface="DejaVu Sans"/>
              </a:defRPr>
            </a:pPr>
            <a:r>
              <a:t>Extreme values / scaling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0750" y="3251200"/>
            <a:ext cx="807085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52B3A"/>
                </a:solidFill>
                <a:latin typeface="DejaVu Sans"/>
              </a:defRPr>
            </a:pPr>
            <a:r>
              <a:t>1%/99% train-only clipping; robust vs standard scaling after clipping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1500" y="3733800"/>
            <a:ext cx="11049000" cy="609600"/>
          </a:xfrm>
          <a:prstGeom prst="rect">
            <a:avLst/>
          </a:prstGeom>
          <a:solidFill>
            <a:srgbClr val="F6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8500" y="3860800"/>
            <a:ext cx="254635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1">
                <a:solidFill>
                  <a:srgbClr val="152B3A"/>
                </a:solidFill>
                <a:latin typeface="DejaVu Sans"/>
              </a:defRPr>
            </a:pPr>
            <a:r>
              <a:t>Missing / rare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0750" y="3860800"/>
            <a:ext cx="807085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52B3A"/>
                </a:solidFill>
                <a:latin typeface="DejaVu Sans"/>
              </a:defRPr>
            </a:pPr>
            <a:r>
              <a:t>Indicators off; sparse-field cutoffs; rare-level pooling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" y="4343400"/>
            <a:ext cx="11049000" cy="60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8500" y="4470400"/>
            <a:ext cx="254635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1">
                <a:solidFill>
                  <a:srgbClr val="152B3A"/>
                </a:solidFill>
                <a:latin typeface="DejaVu Sans"/>
              </a:defRPr>
            </a:pPr>
            <a:r>
              <a:t>Feature selection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60750" y="4470400"/>
            <a:ext cx="807085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52B3A"/>
                </a:solidFill>
                <a:latin typeface="DejaVu Sans"/>
              </a:defRPr>
            </a:pPr>
            <a:r>
              <a:t>L1; raw-field Spearman redundancy; whole-field supervised top-k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1500" y="4953000"/>
            <a:ext cx="11049000" cy="609600"/>
          </a:xfrm>
          <a:prstGeom prst="rect">
            <a:avLst/>
          </a:prstGeom>
          <a:solidFill>
            <a:srgbClr val="F6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8500" y="5080000"/>
            <a:ext cx="254635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1">
                <a:solidFill>
                  <a:srgbClr val="152B3A"/>
                </a:solidFill>
                <a:latin typeface="DejaVu Sans"/>
              </a:defRPr>
            </a:pPr>
            <a:r>
              <a:t>Tree search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60750" y="5080000"/>
            <a:ext cx="807085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52B3A"/>
                </a:solidFill>
                <a:latin typeface="DejaVu Sans"/>
              </a:defRPr>
            </a:pPr>
            <a:r>
              <a:t>Matched rate/tree-count paths, moderate complexity controls, frozen references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" y="6502400"/>
            <a:ext cx="103251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546774"/>
                </a:solidFill>
                <a:latin typeface="DejaVu Sans"/>
              </a:defRPr>
            </a:pPr>
            <a:r>
              <a:t>Development CV evidence • historical test excluded • docs/portfolio-audit.md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12500" y="6502400"/>
            <a:ext cx="7366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152B3A"/>
                </a:solidFill>
                <a:latin typeface="DejaVu Sans"/>
              </a:defRPr>
            </a:pPr>
            <a:r>
              <a:t>08 / 35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04800"/>
            <a:ext cx="11087100" cy="215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000" b="1">
                <a:solidFill>
                  <a:srgbClr val="087F8C"/>
                </a:solidFill>
                <a:latin typeface="DejaVu Sans"/>
              </a:defRPr>
            </a:pPr>
            <a:r>
              <a:t>CREDIT MODEL STUDY  /  16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647700"/>
            <a:ext cx="11087100" cy="48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900" b="1">
                <a:solidFill>
                  <a:srgbClr val="152B3A"/>
                </a:solidFill>
                <a:latin typeface="DejaVu Sans"/>
              </a:defRPr>
            </a:pPr>
            <a:r>
              <a:t>The full logistic ablation table is retained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549400"/>
            <a:ext cx="110871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46774"/>
                </a:solidFill>
                <a:latin typeface="DejaVu Sans"/>
              </a:defRPr>
            </a:pPr>
            <a:r>
              <a:t>Mean ± SD over six outer folds. SD is descriptive; these folds are dependent.</a:t>
            </a:r>
          </a:p>
        </p:txBody>
      </p:sp>
      <p:pic>
        <p:nvPicPr>
          <p:cNvPr id="5" name="Picture 4" descr="glassbox_abl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5428" y="1841500"/>
            <a:ext cx="7301142" cy="43307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6502400"/>
            <a:ext cx="103251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546774"/>
                </a:solidFill>
                <a:latin typeface="DejaVu Sans"/>
              </a:defRPr>
            </a:pPr>
            <a:r>
              <a:t>Development CV evidence • historical test excluded • docs/portfolio-audit.md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500" y="6502400"/>
            <a:ext cx="7366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152B3A"/>
                </a:solidFill>
                <a:latin typeface="DejaVu Sans"/>
              </a:defRPr>
            </a:pPr>
            <a:r>
              <a:t>09 / 35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04800"/>
            <a:ext cx="11087100" cy="215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000" b="1">
                <a:solidFill>
                  <a:srgbClr val="087F8C"/>
                </a:solidFill>
                <a:latin typeface="DejaVu Sans"/>
              </a:defRPr>
            </a:pPr>
            <a:r>
              <a:t>CREDIT MODEL STUDY  /  16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647700"/>
            <a:ext cx="11087100" cy="48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900" b="1">
                <a:solidFill>
                  <a:srgbClr val="152B3A"/>
                </a:solidFill>
                <a:latin typeface="DejaVu Sans"/>
              </a:defRPr>
            </a:pPr>
            <a:r>
              <a:t>Trees: moderate controls, matched search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549400"/>
            <a:ext cx="110871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46774"/>
                </a:solidFill>
                <a:latin typeface="DejaVu Sans"/>
              </a:defRPr>
            </a:pPr>
            <a:r>
              <a:t>No early stopping: tree counts are inner-selected. Weighted and unweighted searches share eight candidates.</a:t>
            </a:r>
          </a:p>
        </p:txBody>
      </p:sp>
      <p:pic>
        <p:nvPicPr>
          <p:cNvPr id="5" name="Picture 4" descr="blackbox_abl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5683" y="1841500"/>
            <a:ext cx="9340632" cy="4127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6502400"/>
            <a:ext cx="103251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546774"/>
                </a:solidFill>
                <a:latin typeface="DejaVu Sans"/>
              </a:defRPr>
            </a:pPr>
            <a:r>
              <a:t>Development CV evidence • historical test excluded • docs/portfolio-audit.md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500" y="6502400"/>
            <a:ext cx="7366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152B3A"/>
                </a:solidFill>
                <a:latin typeface="DejaVu Sans"/>
              </a:defRPr>
            </a:pPr>
            <a:r>
              <a:t>10 / 35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04800"/>
            <a:ext cx="11087100" cy="215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000" b="1">
                <a:solidFill>
                  <a:srgbClr val="087F8C"/>
                </a:solidFill>
                <a:latin typeface="DejaVu Sans"/>
              </a:defRPr>
            </a:pPr>
            <a:r>
              <a:t>CREDIT MODEL STUDY  /  16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647700"/>
            <a:ext cx="11087100" cy="48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900" b="1">
                <a:solidFill>
                  <a:srgbClr val="152B3A"/>
                </a:solidFill>
                <a:latin typeface="DejaVu Sans"/>
              </a:defRPr>
            </a:pPr>
            <a:r>
              <a:t>Paired changes include negative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549400"/>
            <a:ext cx="110871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46774"/>
                </a:solidFill>
                <a:latin typeface="DejaVu Sans"/>
              </a:defRPr>
            </a:pPr>
            <a:r>
              <a:t>Dots show all six paired outer-fold AP changes; diamonds are means. No favorable seed was selected.</a:t>
            </a:r>
          </a:p>
        </p:txBody>
      </p:sp>
      <p:pic>
        <p:nvPicPr>
          <p:cNvPr id="5" name="Picture 4" descr="paired_abl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1946" y="1816100"/>
            <a:ext cx="9128107" cy="436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6502400"/>
            <a:ext cx="103251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546774"/>
                </a:solidFill>
                <a:latin typeface="DejaVu Sans"/>
              </a:defRPr>
            </a:pPr>
            <a:r>
              <a:t>Development CV evidence • historical test excluded • docs/portfolio-audit.md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500" y="6502400"/>
            <a:ext cx="7366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152B3A"/>
                </a:solidFill>
                <a:latin typeface="DejaVu Sans"/>
              </a:defRPr>
            </a:pPr>
            <a:r>
              <a:t>11 / 35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04800"/>
            <a:ext cx="11087100" cy="215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000" b="1">
                <a:solidFill>
                  <a:srgbClr val="087F8C"/>
                </a:solidFill>
                <a:latin typeface="DejaVu Sans"/>
              </a:defRPr>
            </a:pPr>
            <a:r>
              <a:t>CREDIT MODEL STUDY  /  16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647700"/>
            <a:ext cx="11087100" cy="48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900" b="1">
                <a:solidFill>
                  <a:srgbClr val="152B3A"/>
                </a:solidFill>
                <a:latin typeface="DejaVu Sans"/>
              </a:defRPr>
            </a:pPr>
            <a:r>
              <a:t>Feature selection is not automatically 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092200"/>
            <a:ext cx="11087100" cy="48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900" b="1">
                <a:solidFill>
                  <a:srgbClr val="152B3A"/>
                </a:solidFill>
                <a:latin typeface="DejaVu Sans"/>
              </a:defRPr>
            </a:pPr>
            <a:r>
              <a:t>improvement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549400"/>
            <a:ext cx="110871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46774"/>
                </a:solidFill>
                <a:latin typeface="DejaVu Sans"/>
              </a:defRPr>
            </a:pPr>
            <a:r>
              <a:t>Whole raw fields preserve one-hot groups; dimensions and active sets vary across training folds.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" y="1905000"/>
            <a:ext cx="11049000" cy="533400"/>
          </a:xfrm>
          <a:prstGeom prst="rect">
            <a:avLst/>
          </a:prstGeom>
          <a:solidFill>
            <a:srgbClr val="15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8500" y="2032000"/>
            <a:ext cx="365125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Recipe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5650" y="2032000"/>
            <a:ext cx="155194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Raw fields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3490" y="2032000"/>
            <a:ext cx="177292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Dimensions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2309" y="2032000"/>
            <a:ext cx="177292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Active coeff.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1129" y="2032000"/>
            <a:ext cx="122047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AP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2438400"/>
            <a:ext cx="11049000" cy="533400"/>
          </a:xfrm>
          <a:prstGeom prst="rect">
            <a:avLst/>
          </a:prstGeom>
          <a:solidFill>
            <a:srgbClr val="F6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8500" y="2565400"/>
            <a:ext cx="365125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1">
                <a:solidFill>
                  <a:srgbClr val="152B3A"/>
                </a:solidFill>
                <a:latin typeface="DejaVu Sans"/>
              </a:defRPr>
            </a:pPr>
            <a:r>
              <a:t>lr_clip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5650" y="2565400"/>
            <a:ext cx="155194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52B3A"/>
                </a:solidFill>
                <a:latin typeface="DejaVu Sans"/>
              </a:defRPr>
            </a:pPr>
            <a:r>
              <a:t>218.0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3490" y="2565400"/>
            <a:ext cx="177292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52B3A"/>
                </a:solidFill>
                <a:latin typeface="DejaVu Sans"/>
              </a:defRPr>
            </a:pPr>
            <a:r>
              <a:t>494.5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2309" y="2565400"/>
            <a:ext cx="177292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52B3A"/>
                </a:solidFill>
                <a:latin typeface="DejaVu Sans"/>
              </a:defRPr>
            </a:pPr>
            <a:r>
              <a:t>494.5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11129" y="2565400"/>
            <a:ext cx="122047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52B3A"/>
                </a:solidFill>
                <a:latin typeface="DejaVu Sans"/>
              </a:defRPr>
            </a:pPr>
            <a:r>
              <a:t>0.142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1500" y="2971800"/>
            <a:ext cx="11049000" cy="53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8500" y="3098800"/>
            <a:ext cx="365125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1">
                <a:solidFill>
                  <a:srgbClr val="152B3A"/>
                </a:solidFill>
                <a:latin typeface="DejaVu Sans"/>
              </a:defRPr>
            </a:pPr>
            <a:r>
              <a:t>lr_rare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650" y="3098800"/>
            <a:ext cx="155194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52B3A"/>
                </a:solidFill>
                <a:latin typeface="DejaVu Sans"/>
              </a:defRPr>
            </a:pPr>
            <a:r>
              <a:t>218.0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3490" y="3098800"/>
            <a:ext cx="177292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52B3A"/>
                </a:solidFill>
                <a:latin typeface="DejaVu Sans"/>
              </a:defRPr>
            </a:pPr>
            <a:r>
              <a:t>251.5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2309" y="3098800"/>
            <a:ext cx="177292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52B3A"/>
                </a:solidFill>
                <a:latin typeface="DejaVu Sans"/>
              </a:defRPr>
            </a:pPr>
            <a:r>
              <a:t>251.5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1129" y="3098800"/>
            <a:ext cx="122047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52B3A"/>
                </a:solidFill>
                <a:latin typeface="DejaVu Sans"/>
              </a:defRPr>
            </a:pPr>
            <a:r>
              <a:t>0.149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1500" y="3505200"/>
            <a:ext cx="11049000" cy="533400"/>
          </a:xfrm>
          <a:prstGeom prst="rect">
            <a:avLst/>
          </a:prstGeom>
          <a:solidFill>
            <a:srgbClr val="F6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8500" y="3632200"/>
            <a:ext cx="365125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1">
                <a:solidFill>
                  <a:srgbClr val="152B3A"/>
                </a:solidFill>
                <a:latin typeface="DejaVu Sans"/>
              </a:defRPr>
            </a:pPr>
            <a:r>
              <a:t>lr_drop_sparse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5650" y="3632200"/>
            <a:ext cx="155194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52B3A"/>
                </a:solidFill>
                <a:latin typeface="DejaVu Sans"/>
              </a:defRPr>
            </a:pPr>
            <a:r>
              <a:t>215.0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3490" y="3632200"/>
            <a:ext cx="177292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52B3A"/>
                </a:solidFill>
                <a:latin typeface="DejaVu Sans"/>
              </a:defRPr>
            </a:pPr>
            <a:r>
              <a:t>488.5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2309" y="3632200"/>
            <a:ext cx="177292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52B3A"/>
                </a:solidFill>
                <a:latin typeface="DejaVu Sans"/>
              </a:defRPr>
            </a:pPr>
            <a:r>
              <a:t>488.5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11129" y="3632200"/>
            <a:ext cx="122047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52B3A"/>
                </a:solidFill>
                <a:latin typeface="DejaVu Sans"/>
              </a:defRPr>
            </a:pPr>
            <a:r>
              <a:t>0.142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71500" y="4038600"/>
            <a:ext cx="11049000" cy="53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8500" y="4165600"/>
            <a:ext cx="365125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1">
                <a:solidFill>
                  <a:srgbClr val="152B3A"/>
                </a:solidFill>
                <a:latin typeface="DejaVu Sans"/>
              </a:defRPr>
            </a:pPr>
            <a:r>
              <a:t>lr_redundancy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65650" y="4165600"/>
            <a:ext cx="155194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52B3A"/>
                </a:solidFill>
                <a:latin typeface="DejaVu Sans"/>
              </a:defRPr>
            </a:pPr>
            <a:r>
              <a:t>160.7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3490" y="4165600"/>
            <a:ext cx="177292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52B3A"/>
                </a:solidFill>
                <a:latin typeface="DejaVu Sans"/>
              </a:defRPr>
            </a:pPr>
            <a:r>
              <a:t>435.3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2309" y="4165600"/>
            <a:ext cx="177292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52B3A"/>
                </a:solidFill>
                <a:latin typeface="DejaVu Sans"/>
              </a:defRPr>
            </a:pPr>
            <a:r>
              <a:t>435.3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11129" y="4165600"/>
            <a:ext cx="122047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52B3A"/>
                </a:solidFill>
                <a:latin typeface="DejaVu Sans"/>
              </a:defRPr>
            </a:pPr>
            <a:r>
              <a:t>0.126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1500" y="4572000"/>
            <a:ext cx="11049000" cy="533400"/>
          </a:xfrm>
          <a:prstGeom prst="rect">
            <a:avLst/>
          </a:prstGeom>
          <a:solidFill>
            <a:srgbClr val="F6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8500" y="4699000"/>
            <a:ext cx="365125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1">
                <a:solidFill>
                  <a:srgbClr val="152B3A"/>
                </a:solidFill>
                <a:latin typeface="DejaVu Sans"/>
              </a:defRPr>
            </a:pPr>
            <a:r>
              <a:t>lr_grouped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65650" y="4699000"/>
            <a:ext cx="155194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52B3A"/>
                </a:solidFill>
                <a:latin typeface="DejaVu Sans"/>
              </a:defRPr>
            </a:pPr>
            <a:r>
              <a:t>91.7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33490" y="4699000"/>
            <a:ext cx="177292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52B3A"/>
                </a:solidFill>
                <a:latin typeface="DejaVu Sans"/>
              </a:defRPr>
            </a:pPr>
            <a:r>
              <a:t>145.0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2309" y="4699000"/>
            <a:ext cx="177292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52B3A"/>
                </a:solidFill>
                <a:latin typeface="DejaVu Sans"/>
              </a:defRPr>
            </a:pPr>
            <a:r>
              <a:t>145.0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11129" y="4699000"/>
            <a:ext cx="122047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52B3A"/>
                </a:solidFill>
                <a:latin typeface="DejaVu Sans"/>
              </a:defRPr>
            </a:pPr>
            <a:r>
              <a:t>0.151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71500" y="5105400"/>
            <a:ext cx="11049000" cy="53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8500" y="5232400"/>
            <a:ext cx="365125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1">
                <a:solidFill>
                  <a:srgbClr val="152B3A"/>
                </a:solidFill>
                <a:latin typeface="DejaVu Sans"/>
              </a:defRPr>
            </a:pPr>
            <a:r>
              <a:t>lr_l1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65650" y="5232400"/>
            <a:ext cx="155194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52B3A"/>
                </a:solidFill>
                <a:latin typeface="DejaVu Sans"/>
              </a:defRPr>
            </a:pPr>
            <a:r>
              <a:t>218.0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33490" y="5232400"/>
            <a:ext cx="177292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52B3A"/>
                </a:solidFill>
                <a:latin typeface="DejaVu Sans"/>
              </a:defRPr>
            </a:pPr>
            <a:r>
              <a:t>494.5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2309" y="5232400"/>
            <a:ext cx="177292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52B3A"/>
                </a:solidFill>
                <a:latin typeface="DejaVu Sans"/>
              </a:defRPr>
            </a:pPr>
            <a:r>
              <a:t>22.5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11129" y="5232400"/>
            <a:ext cx="122047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52B3A"/>
                </a:solidFill>
                <a:latin typeface="DejaVu Sans"/>
              </a:defRPr>
            </a:pPr>
            <a:r>
              <a:t>0.135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1500" y="6502400"/>
            <a:ext cx="103251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546774"/>
                </a:solidFill>
                <a:latin typeface="DejaVu Sans"/>
              </a:defRPr>
            </a:pPr>
            <a:r>
              <a:t>Development CV evidence • historical test excluded • docs/portfolio-audit.md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112500" y="6502400"/>
            <a:ext cx="7366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152B3A"/>
                </a:solidFill>
                <a:latin typeface="DejaVu Sans"/>
              </a:defRPr>
            </a:pPr>
            <a:r>
              <a:t>12 / 35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04800"/>
            <a:ext cx="11087100" cy="215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000" b="1">
                <a:solidFill>
                  <a:srgbClr val="087F8C"/>
                </a:solidFill>
                <a:latin typeface="DejaVu Sans"/>
              </a:defRPr>
            </a:pPr>
            <a:r>
              <a:t>CREDIT MODEL STUDY  /  16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647700"/>
            <a:ext cx="11087100" cy="48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900" b="1">
                <a:solidFill>
                  <a:srgbClr val="152B3A"/>
                </a:solidFill>
                <a:latin typeface="DejaVu Sans"/>
              </a:defRPr>
            </a:pPr>
            <a:r>
              <a:t>Calibration is a separate probability experiment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549400"/>
            <a:ext cx="110871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46774"/>
                </a:solidFill>
                <a:latin typeface="DejaVu Sans"/>
              </a:defRPr>
            </a:pPr>
            <a:r>
              <a:t>A regularized monotone sigmoid fits natural-prevalence rows independently of model fitting and thresholds.</a:t>
            </a:r>
          </a:p>
        </p:txBody>
      </p:sp>
      <p:pic>
        <p:nvPicPr>
          <p:cNvPr id="5" name="Picture 4" descr="calibration_chan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2610" y="1841500"/>
            <a:ext cx="8386778" cy="4127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6502400"/>
            <a:ext cx="103251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546774"/>
                </a:solidFill>
                <a:latin typeface="DejaVu Sans"/>
              </a:defRPr>
            </a:pPr>
            <a:r>
              <a:t>Development CV evidence • historical test excluded • docs/portfolio-audit.md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500" y="6502400"/>
            <a:ext cx="7366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152B3A"/>
                </a:solidFill>
                <a:latin typeface="DejaVu Sans"/>
              </a:defRPr>
            </a:pPr>
            <a:r>
              <a:t>13 / 35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04800"/>
            <a:ext cx="11087100" cy="215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000" b="1">
                <a:solidFill>
                  <a:srgbClr val="087F8C"/>
                </a:solidFill>
                <a:latin typeface="DejaVu Sans"/>
              </a:defRPr>
            </a:pPr>
            <a:r>
              <a:t>CREDIT MODEL STUDY  /  16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647700"/>
            <a:ext cx="11087100" cy="48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900" b="1">
                <a:solidFill>
                  <a:srgbClr val="152B3A"/>
                </a:solidFill>
                <a:latin typeface="DejaVu Sans"/>
              </a:defRPr>
            </a:pPr>
            <a:r>
              <a:t>A fitting diagnosis: the intercept was penalized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549400"/>
            <a:ext cx="110871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46774"/>
                </a:solidFill>
                <a:latin typeface="DejaVu Sans"/>
              </a:defRPr>
            </a:pPr>
            <a:r>
              <a:t>Adaptive follow-up, reported separately. It uses the same folds and C grids; it is not independent confirmation.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993900"/>
            <a:ext cx="50800" cy="1143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3600" y="1905000"/>
            <a:ext cx="10604500" cy="3467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800" b="0">
                <a:solidFill>
                  <a:srgbClr val="152B3A"/>
                </a:solidFill>
                <a:latin typeface="DejaVu Sans"/>
              </a:defRPr>
            </a:pPr>
            <a:r>
              <a:t>liblinear penalizes its synthetic intercept. Very small C can pull even an unweighted 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3600" y="2213610"/>
            <a:ext cx="10604500" cy="3467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800" b="0">
                <a:solidFill>
                  <a:srgbClr val="152B3A"/>
                </a:solidFill>
                <a:latin typeface="DejaVu Sans"/>
              </a:defRPr>
            </a:pPr>
            <a:r>
              <a:t>toward 0.5.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" y="2788920"/>
            <a:ext cx="50800" cy="1143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600" y="2700020"/>
            <a:ext cx="10604500" cy="3467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800" b="0">
                <a:solidFill>
                  <a:srgbClr val="152B3A"/>
                </a:solidFill>
                <a:latin typeface="DejaVu Sans"/>
              </a:defRPr>
            </a:pPr>
            <a:r>
              <a:t>L2 follow-up: lbfgs with an unpenalized intercept, with and without clipping.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275329"/>
            <a:ext cx="50800" cy="1143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600" y="3186430"/>
            <a:ext cx="10604500" cy="3467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800" b="0">
                <a:solidFill>
                  <a:srgbClr val="152B3A"/>
                </a:solidFill>
                <a:latin typeface="DejaVu Sans"/>
              </a:defRPr>
            </a:pPr>
            <a:r>
              <a:t>L1 follow-up: same solver, with intercept_scaling=100 to weaken the intercept penalty.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8500" y="5359400"/>
            <a:ext cx="10833100" cy="3981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100" b="1">
                <a:solidFill>
                  <a:srgbClr val="152B3A"/>
                </a:solidFill>
                <a:latin typeface="DejaVu Sans"/>
              </a:defRPr>
            </a:pPr>
            <a:r>
              <a:t>Clipped L2 raw Brier: liblinear 0.155 → lbfgs 0.057.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" y="6502400"/>
            <a:ext cx="103251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546774"/>
                </a:solidFill>
                <a:latin typeface="DejaVu Sans"/>
              </a:defRPr>
            </a:pPr>
            <a:r>
              <a:t>Development CV evidence • historical test excluded • docs/portfolio-audit.md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12500" y="6502400"/>
            <a:ext cx="7366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152B3A"/>
                </a:solidFill>
                <a:latin typeface="DejaVu Sans"/>
              </a:defRPr>
            </a:pPr>
            <a:r>
              <a:t>14 / 35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04800"/>
            <a:ext cx="11087100" cy="215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000" b="1">
                <a:solidFill>
                  <a:srgbClr val="087F8C"/>
                </a:solidFill>
                <a:latin typeface="DejaVu Sans"/>
              </a:defRPr>
            </a:pPr>
            <a:r>
              <a:t>CREDIT MODEL STUDY  /  16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647700"/>
            <a:ext cx="11087100" cy="48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900" b="1">
                <a:solidFill>
                  <a:srgbClr val="152B3A"/>
                </a:solidFill>
                <a:latin typeface="DejaVu Sans"/>
              </a:defRPr>
            </a:pPr>
            <a:r>
              <a:t>Primary procedure-level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549400"/>
            <a:ext cx="110871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46774"/>
                </a:solidFill>
                <a:latin typeface="DejaVu Sans"/>
              </a:defRPr>
            </a:pPr>
            <a:r>
              <a:t>Each family chooses its recipe by inner AP only. These are development estimates, not a new test result.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1905000"/>
            <a:ext cx="11049000" cy="787400"/>
          </a:xfrm>
          <a:prstGeom prst="rect">
            <a:avLst/>
          </a:prstGeom>
          <a:solidFill>
            <a:srgbClr val="15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2032000"/>
            <a:ext cx="254635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1">
                <a:solidFill>
                  <a:srgbClr val="FFFFFF"/>
                </a:solidFill>
                <a:latin typeface="DejaVu Sans"/>
              </a:defRPr>
            </a:pPr>
            <a:r>
              <a:t>Procedure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60750" y="2032000"/>
            <a:ext cx="254635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1">
                <a:solidFill>
                  <a:srgbClr val="FFFFFF"/>
                </a:solidFill>
                <a:latin typeface="DejaVu Sans"/>
              </a:defRPr>
            </a:pPr>
            <a:r>
              <a:t>AP ± SD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3000" y="2032000"/>
            <a:ext cx="166243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1">
                <a:solidFill>
                  <a:srgbClr val="FFFFFF"/>
                </a:solidFill>
                <a:latin typeface="DejaVu Sans"/>
              </a:defRPr>
            </a:pPr>
            <a:r>
              <a:t>ROC-AUC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1330" y="2032000"/>
            <a:ext cx="166243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1">
                <a:solidFill>
                  <a:srgbClr val="FFFFFF"/>
                </a:solidFill>
                <a:latin typeface="DejaVu Sans"/>
              </a:defRPr>
            </a:pPr>
            <a:r>
              <a:t>Brier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79660" y="2032000"/>
            <a:ext cx="155194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1">
                <a:solidFill>
                  <a:srgbClr val="FFFFFF"/>
                </a:solidFill>
                <a:latin typeface="DejaVu Sans"/>
              </a:defRPr>
            </a:pPr>
            <a:r>
              <a:t>Log loss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1500" y="2692400"/>
            <a:ext cx="11049000" cy="787400"/>
          </a:xfrm>
          <a:prstGeom prst="rect">
            <a:avLst/>
          </a:prstGeom>
          <a:solidFill>
            <a:srgbClr val="F6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8500" y="2819400"/>
            <a:ext cx="254635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1">
                <a:solidFill>
                  <a:srgbClr val="152B3A"/>
                </a:solidFill>
                <a:latin typeface="DejaVu Sans"/>
              </a:defRPr>
            </a:pPr>
            <a:r>
              <a:t>dummy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0750" y="2819400"/>
            <a:ext cx="254635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0">
                <a:solidFill>
                  <a:srgbClr val="152B3A"/>
                </a:solidFill>
                <a:latin typeface="DejaVu Sans"/>
              </a:defRPr>
            </a:pPr>
            <a:r>
              <a:t>0.061 ± 0.001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3000" y="2819400"/>
            <a:ext cx="166243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0">
                <a:solidFill>
                  <a:srgbClr val="152B3A"/>
                </a:solidFill>
                <a:latin typeface="DejaVu Sans"/>
              </a:defRPr>
            </a:pPr>
            <a:r>
              <a:t>0.500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01330" y="2819400"/>
            <a:ext cx="166243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0">
                <a:solidFill>
                  <a:srgbClr val="152B3A"/>
                </a:solidFill>
                <a:latin typeface="DejaVu Sans"/>
              </a:defRPr>
            </a:pPr>
            <a:r>
              <a:t>0.0571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79660" y="2819400"/>
            <a:ext cx="155194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0">
                <a:solidFill>
                  <a:srgbClr val="152B3A"/>
                </a:solidFill>
                <a:latin typeface="DejaVu Sans"/>
              </a:defRPr>
            </a:pPr>
            <a:r>
              <a:t>0.229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" y="3479800"/>
            <a:ext cx="11049000" cy="78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8500" y="3606800"/>
            <a:ext cx="254635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1">
                <a:solidFill>
                  <a:srgbClr val="152B3A"/>
                </a:solidFill>
                <a:latin typeface="DejaVu Sans"/>
              </a:defRPr>
            </a:pPr>
            <a:r>
              <a:t>glassbox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60750" y="3606800"/>
            <a:ext cx="254635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0">
                <a:solidFill>
                  <a:srgbClr val="152B3A"/>
                </a:solidFill>
                <a:latin typeface="DejaVu Sans"/>
              </a:defRPr>
            </a:pPr>
            <a:r>
              <a:t>0.131 ± 0.033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3000" y="3606800"/>
            <a:ext cx="166243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0">
                <a:solidFill>
                  <a:srgbClr val="152B3A"/>
                </a:solidFill>
                <a:latin typeface="DejaVu Sans"/>
              </a:defRPr>
            </a:pPr>
            <a:r>
              <a:t>0.659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01330" y="3606800"/>
            <a:ext cx="166243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0">
                <a:solidFill>
                  <a:srgbClr val="152B3A"/>
                </a:solidFill>
                <a:latin typeface="DejaVu Sans"/>
              </a:defRPr>
            </a:pPr>
            <a:r>
              <a:t>0.0570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79660" y="3606800"/>
            <a:ext cx="155194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0">
                <a:solidFill>
                  <a:srgbClr val="152B3A"/>
                </a:solidFill>
                <a:latin typeface="DejaVu Sans"/>
              </a:defRPr>
            </a:pPr>
            <a:r>
              <a:t>0.226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1500" y="4267200"/>
            <a:ext cx="11049000" cy="787400"/>
          </a:xfrm>
          <a:prstGeom prst="rect">
            <a:avLst/>
          </a:prstGeom>
          <a:solidFill>
            <a:srgbClr val="F6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8500" y="4394200"/>
            <a:ext cx="254635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1">
                <a:solidFill>
                  <a:srgbClr val="152B3A"/>
                </a:solidFill>
                <a:latin typeface="DejaVu Sans"/>
              </a:defRPr>
            </a:pPr>
            <a:r>
              <a:t>blackbox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60750" y="4394200"/>
            <a:ext cx="254635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0">
                <a:solidFill>
                  <a:srgbClr val="152B3A"/>
                </a:solidFill>
                <a:latin typeface="DejaVu Sans"/>
              </a:defRPr>
            </a:pPr>
            <a:r>
              <a:t>0.131 ± 0.010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23000" y="4394200"/>
            <a:ext cx="166243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0">
                <a:solidFill>
                  <a:srgbClr val="152B3A"/>
                </a:solidFill>
                <a:latin typeface="DejaVu Sans"/>
              </a:defRPr>
            </a:pPr>
            <a:r>
              <a:t>0.706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01330" y="4394200"/>
            <a:ext cx="166243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0">
                <a:solidFill>
                  <a:srgbClr val="152B3A"/>
                </a:solidFill>
                <a:latin typeface="DejaVu Sans"/>
              </a:defRPr>
            </a:pPr>
            <a:r>
              <a:t>0.0556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79660" y="4394200"/>
            <a:ext cx="155194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0">
                <a:solidFill>
                  <a:srgbClr val="152B3A"/>
                </a:solidFill>
                <a:latin typeface="DejaVu Sans"/>
              </a:defRPr>
            </a:pPr>
            <a:r>
              <a:t>0.215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000" y="5613400"/>
            <a:ext cx="10833100" cy="2952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500" b="0">
                <a:solidFill>
                  <a:srgbClr val="546774"/>
                </a:solidFill>
                <a:latin typeface="DejaVu Sans"/>
              </a:defRPr>
            </a:pPr>
            <a:r>
              <a:t>Sigmoid outputs shown. The adaptive intercept study is separate; it does not replace these planned estimates.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1500" y="6502400"/>
            <a:ext cx="103251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546774"/>
                </a:solidFill>
                <a:latin typeface="DejaVu Sans"/>
              </a:defRPr>
            </a:pPr>
            <a:r>
              <a:t>Development CV evidence • historical test excluded • docs/portfolio-audit.md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12500" y="6502400"/>
            <a:ext cx="7366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152B3A"/>
                </a:solidFill>
                <a:latin typeface="DejaVu Sans"/>
              </a:defRPr>
            </a:pPr>
            <a:r>
              <a:t>15 / 35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04800"/>
            <a:ext cx="11087100" cy="215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000" b="1">
                <a:solidFill>
                  <a:srgbClr val="087F8C"/>
                </a:solidFill>
                <a:latin typeface="DejaVu Sans"/>
              </a:defRPr>
            </a:pPr>
            <a:r>
              <a:t>CREDIT MODEL STUDY  /  16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647700"/>
            <a:ext cx="11087100" cy="48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900" b="1">
                <a:solidFill>
                  <a:srgbClr val="152B3A"/>
                </a:solidFill>
                <a:latin typeface="DejaVu Sans"/>
              </a:defRPr>
            </a:pPr>
            <a:r>
              <a:t>Ranking curves need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549400"/>
            <a:ext cx="110871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46774"/>
                </a:solidFill>
                <a:latin typeface="DejaVu Sans"/>
              </a:defRPr>
            </a:pPr>
            <a:r>
              <a:t>Repeat 0 pooled outer-development scores. Pooled AP and mean fold AP are different summaries.</a:t>
            </a:r>
          </a:p>
        </p:txBody>
      </p:sp>
      <p:pic>
        <p:nvPicPr>
          <p:cNvPr id="5" name="Picture 4" descr="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772" y="1841500"/>
            <a:ext cx="11008455" cy="4127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6502400"/>
            <a:ext cx="103251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546774"/>
                </a:solidFill>
                <a:latin typeface="DejaVu Sans"/>
              </a:defRPr>
            </a:pPr>
            <a:r>
              <a:t>Development CV evidence • historical test excluded • docs/portfolio-audit.md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500" y="6502400"/>
            <a:ext cx="7366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152B3A"/>
                </a:solidFill>
                <a:latin typeface="DejaVu Sans"/>
              </a:defRPr>
            </a:pPr>
            <a:r>
              <a:t>16 / 35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04800"/>
            <a:ext cx="11087100" cy="215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000" b="1">
                <a:solidFill>
                  <a:srgbClr val="087F8C"/>
                </a:solidFill>
                <a:latin typeface="DejaVu Sans"/>
              </a:defRPr>
            </a:pPr>
            <a:r>
              <a:t>CREDIT MODEL STUDY  /  16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647700"/>
            <a:ext cx="11087100" cy="48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900" b="1">
                <a:solidFill>
                  <a:srgbClr val="152B3A"/>
                </a:solidFill>
                <a:latin typeface="DejaVu Sans"/>
              </a:defRPr>
            </a:pPr>
            <a:r>
              <a:t>Probability reliability remains uncertain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549400"/>
            <a:ext cx="110871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46774"/>
                </a:solidFill>
                <a:latin typeface="DejaVu Sans"/>
              </a:defRPr>
            </a:pPr>
            <a:r>
              <a:t>Repeat 0 pooled outer-development predictions; the fitted calibration subsets contain only ≈20 defaults each.</a:t>
            </a:r>
          </a:p>
        </p:txBody>
      </p:sp>
      <p:pic>
        <p:nvPicPr>
          <p:cNvPr id="5" name="Picture 4" descr="reli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772" y="1841500"/>
            <a:ext cx="11008455" cy="4127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6502400"/>
            <a:ext cx="103251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546774"/>
                </a:solidFill>
                <a:latin typeface="DejaVu Sans"/>
              </a:defRPr>
            </a:pPr>
            <a:r>
              <a:t>Development CV evidence • historical test excluded • docs/portfolio-audit.md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500" y="6502400"/>
            <a:ext cx="7366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152B3A"/>
                </a:solidFill>
                <a:latin typeface="DejaVu Sans"/>
              </a:defRPr>
            </a:pPr>
            <a:r>
              <a:t>17 / 35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04800"/>
            <a:ext cx="11087100" cy="215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000" b="1">
                <a:solidFill>
                  <a:srgbClr val="087F8C"/>
                </a:solidFill>
                <a:latin typeface="DejaVu Sans"/>
              </a:defRPr>
            </a:pPr>
            <a:r>
              <a:t>CREDIT MODEL STUDY  /  16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647700"/>
            <a:ext cx="11087100" cy="48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900" b="1">
                <a:solidFill>
                  <a:srgbClr val="152B3A"/>
                </a:solidFill>
                <a:latin typeface="DejaVu Sans"/>
              </a:defRPr>
            </a:pPr>
            <a:r>
              <a:t>F2 thresholds still create substantial workload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549400"/>
            <a:ext cx="110871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46774"/>
                </a:solidFill>
                <a:latin typeface="DejaVu Sans"/>
              </a:defRPr>
            </a:pPr>
            <a:r>
              <a:t>F2 is a stated recall preference, not a monetary cost model. Values are outer-fold means.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1905000"/>
            <a:ext cx="11049000" cy="723900"/>
          </a:xfrm>
          <a:prstGeom prst="rect">
            <a:avLst/>
          </a:prstGeom>
          <a:solidFill>
            <a:srgbClr val="15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2032000"/>
            <a:ext cx="365125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1">
                <a:solidFill>
                  <a:srgbClr val="FFFFFF"/>
                </a:solidFill>
                <a:latin typeface="DejaVu Sans"/>
              </a:defRPr>
            </a:pPr>
            <a:r>
              <a:t>Procedure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65650" y="2032000"/>
            <a:ext cx="166243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1">
                <a:solidFill>
                  <a:srgbClr val="FFFFFF"/>
                </a:solidFill>
                <a:latin typeface="DejaVu Sans"/>
              </a:defRPr>
            </a:pPr>
            <a:r>
              <a:t>Precision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3980" y="2032000"/>
            <a:ext cx="155194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1">
                <a:solidFill>
                  <a:srgbClr val="FFFFFF"/>
                </a:solidFill>
                <a:latin typeface="DejaVu Sans"/>
              </a:defRPr>
            </a:pPr>
            <a:r>
              <a:t>Recall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11820" y="2032000"/>
            <a:ext cx="155194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1">
                <a:solidFill>
                  <a:srgbClr val="FFFFFF"/>
                </a:solidFill>
                <a:latin typeface="DejaVu Sans"/>
              </a:defRPr>
            </a:pPr>
            <a:r>
              <a:t>FP / 800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79660" y="2032000"/>
            <a:ext cx="155194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1">
                <a:solidFill>
                  <a:srgbClr val="FFFFFF"/>
                </a:solidFill>
                <a:latin typeface="DejaVu Sans"/>
              </a:defRPr>
            </a:pPr>
            <a:r>
              <a:t>Flagged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1500" y="2628900"/>
            <a:ext cx="11049000" cy="723900"/>
          </a:xfrm>
          <a:prstGeom prst="rect">
            <a:avLst/>
          </a:prstGeom>
          <a:solidFill>
            <a:srgbClr val="F6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8500" y="2755900"/>
            <a:ext cx="365125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1">
                <a:solidFill>
                  <a:srgbClr val="152B3A"/>
                </a:solidFill>
                <a:latin typeface="DejaVu Sans"/>
              </a:defRPr>
            </a:pPr>
            <a:r>
              <a:t>dummy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5650" y="2755900"/>
            <a:ext cx="166243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0">
                <a:solidFill>
                  <a:srgbClr val="152B3A"/>
                </a:solidFill>
                <a:latin typeface="DejaVu Sans"/>
              </a:defRPr>
            </a:pPr>
            <a:r>
              <a:t>6.1%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3980" y="2755900"/>
            <a:ext cx="155194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0">
                <a:solidFill>
                  <a:srgbClr val="152B3A"/>
                </a:solidFill>
                <a:latin typeface="DejaVu Sans"/>
              </a:defRPr>
            </a:pPr>
            <a:r>
              <a:t>100.0%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820" y="2755900"/>
            <a:ext cx="155194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0">
                <a:solidFill>
                  <a:srgbClr val="152B3A"/>
                </a:solidFill>
                <a:latin typeface="DejaVu Sans"/>
              </a:defRPr>
            </a:pPr>
            <a:r>
              <a:t>751.3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79660" y="2755900"/>
            <a:ext cx="155194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0">
                <a:solidFill>
                  <a:srgbClr val="152B3A"/>
                </a:solidFill>
                <a:latin typeface="DejaVu Sans"/>
              </a:defRPr>
            </a:pPr>
            <a:r>
              <a:t>100.0%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" y="3352800"/>
            <a:ext cx="11049000" cy="723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8500" y="3479800"/>
            <a:ext cx="365125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1">
                <a:solidFill>
                  <a:srgbClr val="152B3A"/>
                </a:solidFill>
                <a:latin typeface="DejaVu Sans"/>
              </a:defRPr>
            </a:pPr>
            <a:r>
              <a:t>glassbox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5650" y="3479800"/>
            <a:ext cx="166243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0">
                <a:solidFill>
                  <a:srgbClr val="152B3A"/>
                </a:solidFill>
                <a:latin typeface="DejaVu Sans"/>
              </a:defRPr>
            </a:pPr>
            <a:r>
              <a:t>8.4%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3980" y="3479800"/>
            <a:ext cx="155194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0">
                <a:solidFill>
                  <a:srgbClr val="152B3A"/>
                </a:solidFill>
                <a:latin typeface="DejaVu Sans"/>
              </a:defRPr>
            </a:pPr>
            <a:r>
              <a:t>67.0%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11820" y="3479800"/>
            <a:ext cx="155194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0">
                <a:solidFill>
                  <a:srgbClr val="152B3A"/>
                </a:solidFill>
                <a:latin typeface="DejaVu Sans"/>
              </a:defRPr>
            </a:pPr>
            <a:r>
              <a:t>362.0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79660" y="3479800"/>
            <a:ext cx="155194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0">
                <a:solidFill>
                  <a:srgbClr val="152B3A"/>
                </a:solidFill>
                <a:latin typeface="DejaVu Sans"/>
              </a:defRPr>
            </a:pPr>
            <a:r>
              <a:t>49.3%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1500" y="4076700"/>
            <a:ext cx="11049000" cy="723900"/>
          </a:xfrm>
          <a:prstGeom prst="rect">
            <a:avLst/>
          </a:prstGeom>
          <a:solidFill>
            <a:srgbClr val="F6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8500" y="4203700"/>
            <a:ext cx="365125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1">
                <a:solidFill>
                  <a:srgbClr val="152B3A"/>
                </a:solidFill>
                <a:latin typeface="DejaVu Sans"/>
              </a:defRPr>
            </a:pPr>
            <a:r>
              <a:t>blackbox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5650" y="4203700"/>
            <a:ext cx="166243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0">
                <a:solidFill>
                  <a:srgbClr val="152B3A"/>
                </a:solidFill>
                <a:latin typeface="DejaVu Sans"/>
              </a:defRPr>
            </a:pPr>
            <a:r>
              <a:t>10.2%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3980" y="4203700"/>
            <a:ext cx="155194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0">
                <a:solidFill>
                  <a:srgbClr val="152B3A"/>
                </a:solidFill>
                <a:latin typeface="DejaVu Sans"/>
              </a:defRPr>
            </a:pPr>
            <a:r>
              <a:t>65.4%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820" y="4203700"/>
            <a:ext cx="155194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0">
                <a:solidFill>
                  <a:srgbClr val="152B3A"/>
                </a:solidFill>
                <a:latin typeface="DejaVu Sans"/>
              </a:defRPr>
            </a:pPr>
            <a:r>
              <a:t>290.5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79660" y="4203700"/>
            <a:ext cx="155194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0">
                <a:solidFill>
                  <a:srgbClr val="152B3A"/>
                </a:solidFill>
                <a:latin typeface="DejaVu Sans"/>
              </a:defRPr>
            </a:pPr>
            <a:r>
              <a:t>40.3%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71500" y="4800600"/>
            <a:ext cx="11049000" cy="723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8500" y="4927600"/>
            <a:ext cx="365125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1">
                <a:solidFill>
                  <a:srgbClr val="152B3A"/>
                </a:solidFill>
                <a:latin typeface="DejaVu Sans"/>
              </a:defRPr>
            </a:pPr>
            <a:r>
              <a:t>lr_lbfgs_clip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5650" y="4927600"/>
            <a:ext cx="166243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0">
                <a:solidFill>
                  <a:srgbClr val="152B3A"/>
                </a:solidFill>
                <a:latin typeface="DejaVu Sans"/>
              </a:defRPr>
            </a:pPr>
            <a:r>
              <a:t>10.1%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3980" y="4927600"/>
            <a:ext cx="155194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0">
                <a:solidFill>
                  <a:srgbClr val="152B3A"/>
                </a:solidFill>
                <a:latin typeface="DejaVu Sans"/>
              </a:defRPr>
            </a:pPr>
            <a:r>
              <a:t>54.0%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820" y="4927600"/>
            <a:ext cx="155194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0">
                <a:solidFill>
                  <a:srgbClr val="152B3A"/>
                </a:solidFill>
                <a:latin typeface="DejaVu Sans"/>
              </a:defRPr>
            </a:pPr>
            <a:r>
              <a:t>238.8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79660" y="4927600"/>
            <a:ext cx="155194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0">
                <a:solidFill>
                  <a:srgbClr val="152B3A"/>
                </a:solidFill>
                <a:latin typeface="DejaVu Sans"/>
              </a:defRPr>
            </a:pPr>
            <a:r>
              <a:t>33.1%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5753100"/>
            <a:ext cx="1083310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0">
                <a:solidFill>
                  <a:srgbClr val="546774"/>
                </a:solidFill>
                <a:latin typeface="DejaVu Sans"/>
              </a:defRPr>
            </a:pPr>
            <a:r>
              <a:t>Last row is the adaptive follow-up. No threshold was selected from the historical test or outer labels.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1500" y="6502400"/>
            <a:ext cx="103251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546774"/>
                </a:solidFill>
                <a:latin typeface="DejaVu Sans"/>
              </a:defRPr>
            </a:pPr>
            <a:r>
              <a:t>Development CV evidence • historical test excluded • docs/portfolio-audit.md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12500" y="6502400"/>
            <a:ext cx="7366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152B3A"/>
                </a:solidFill>
                <a:latin typeface="DejaVu Sans"/>
              </a:defRPr>
            </a:pPr>
            <a:r>
              <a:t>18 / 35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04800"/>
            <a:ext cx="11087100" cy="215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000" b="1">
                <a:solidFill>
                  <a:srgbClr val="087F8C"/>
                </a:solidFill>
                <a:latin typeface="DejaVu Sans"/>
              </a:defRPr>
            </a:pPr>
            <a:r>
              <a:t>CREDIT MODEL STUDY  /  16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647700"/>
            <a:ext cx="11087100" cy="48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900" b="1">
                <a:solidFill>
                  <a:srgbClr val="152B3A"/>
                </a:solidFill>
                <a:latin typeface="DejaVu Sans"/>
              </a:defRPr>
            </a:pPr>
            <a:r>
              <a:t>There is signal; no ceiling is established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549400"/>
            <a:ext cx="110871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46774"/>
                </a:solidFill>
                <a:latin typeface="DejaVu Sans"/>
              </a:defRPr>
            </a:pPr>
            <a:r>
              <a:t>Fixed clipped L2 C=.03, three-fold development CV, 99 shuffled-label controls.</a:t>
            </a:r>
          </a:p>
        </p:txBody>
      </p:sp>
      <p:pic>
        <p:nvPicPr>
          <p:cNvPr id="5" name="Picture 4" descr="permu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1875" y="1841500"/>
            <a:ext cx="9288249" cy="4127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6502400"/>
            <a:ext cx="103251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546774"/>
                </a:solidFill>
                <a:latin typeface="DejaVu Sans"/>
              </a:defRPr>
            </a:pPr>
            <a:r>
              <a:t>Development CV evidence • historical test excluded • docs/portfolio-audit.md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500" y="6502400"/>
            <a:ext cx="7366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152B3A"/>
                </a:solidFill>
                <a:latin typeface="DejaVu Sans"/>
              </a:defRPr>
            </a:pPr>
            <a:r>
              <a:t>19 / 35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04800"/>
            <a:ext cx="11087100" cy="215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000" b="1">
                <a:solidFill>
                  <a:srgbClr val="087F8C"/>
                </a:solidFill>
                <a:latin typeface="DejaVu Sans"/>
              </a:defRPr>
            </a:pPr>
            <a:r>
              <a:t>CREDIT MODEL STUDY  /  16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647700"/>
            <a:ext cx="11087100" cy="48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900" b="1">
                <a:solidFill>
                  <a:srgbClr val="152B3A"/>
                </a:solidFill>
                <a:latin typeface="DejaVu Sans"/>
              </a:defRPr>
            </a:pPr>
            <a:r>
              <a:t>Uncertainty rules out a strong winner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549400"/>
            <a:ext cx="110871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46774"/>
                </a:solidFill>
                <a:latin typeface="DejaVu Sans"/>
              </a:defRPr>
            </a:pPr>
            <a:r>
              <a:t>Original rows are paired across repeats in the bootstrap; model refitting is not included.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2095500"/>
            <a:ext cx="10922000" cy="1625600"/>
          </a:xfrm>
          <a:prstGeom prst="rect">
            <a:avLst/>
          </a:prstGeom>
          <a:solidFill>
            <a:srgbClr val="F6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5500" y="2273300"/>
            <a:ext cx="10579100" cy="2266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100" b="1">
                <a:solidFill>
                  <a:srgbClr val="546774"/>
                </a:solidFill>
                <a:latin typeface="DejaVu Sans"/>
              </a:defRPr>
            </a:pPr>
            <a:r>
              <a:t>CONDITIONAL ΔAP INTERVAL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2578100"/>
            <a:ext cx="10579100" cy="569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3100" b="1">
                <a:solidFill>
                  <a:srgbClr val="152B3A"/>
                </a:solidFill>
                <a:latin typeface="DejaVu Sans"/>
              </a:defRPr>
            </a:pPr>
            <a:r>
              <a:t>[-0.033, +0.033]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500" y="3225800"/>
            <a:ext cx="1057910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546774"/>
                </a:solidFill>
                <a:latin typeface="DejaVu Sans"/>
              </a:defRPr>
            </a:pPr>
            <a:r>
              <a:t>Tree selector minus logistic selector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000" y="4178300"/>
            <a:ext cx="50800" cy="1143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3600" y="4089400"/>
            <a:ext cx="10604500" cy="3467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800" b="0">
                <a:solidFill>
                  <a:srgbClr val="152B3A"/>
                </a:solidFill>
                <a:latin typeface="DejaVu Sans"/>
              </a:defRPr>
            </a:pPr>
            <a:r>
              <a:t>Fold SD, repeat-level results and paired ablations are all retained.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000" y="4664710"/>
            <a:ext cx="50800" cy="1143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600" y="4575810"/>
            <a:ext cx="10604500" cy="3467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800" b="0">
                <a:solidFill>
                  <a:srgbClr val="152B3A"/>
                </a:solidFill>
                <a:latin typeface="DejaVu Sans"/>
              </a:defRPr>
            </a:pPr>
            <a:r>
              <a:t>The interval conditions on fitted predictions and prevalence; unknown borrower clustering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600" y="4884420"/>
            <a:ext cx="10604500" cy="3467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800" b="0">
                <a:solidFill>
                  <a:srgbClr val="152B3A"/>
                </a:solidFill>
                <a:latin typeface="DejaVu Sans"/>
              </a:defRPr>
            </a:pPr>
            <a:r>
              <a:t>is not modeled.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000" y="5459730"/>
            <a:ext cx="50800" cy="1143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600" y="5370830"/>
            <a:ext cx="10604500" cy="3467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800" b="0">
                <a:solidFill>
                  <a:srgbClr val="152B3A"/>
                </a:solidFill>
                <a:latin typeface="DejaVu Sans"/>
              </a:defRPr>
            </a:pPr>
            <a:r>
              <a:t>Adaptive experimentation and future distribution shift require a new external / temporal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600" y="5679440"/>
            <a:ext cx="10604500" cy="3467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800" b="0">
                <a:solidFill>
                  <a:srgbClr val="152B3A"/>
                </a:solidFill>
                <a:latin typeface="DejaVu Sans"/>
              </a:defRPr>
            </a:pPr>
            <a:r>
              <a:t>cohort.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" y="6502400"/>
            <a:ext cx="103251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546774"/>
                </a:solidFill>
                <a:latin typeface="DejaVu Sans"/>
              </a:defRPr>
            </a:pPr>
            <a:r>
              <a:t>Development CV evidence • historical test excluded • docs/portfolio-audit.md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2500" y="6502400"/>
            <a:ext cx="7366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152B3A"/>
                </a:solidFill>
                <a:latin typeface="DejaVu Sans"/>
              </a:defRPr>
            </a:pPr>
            <a:r>
              <a:t>20 / 35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04800"/>
            <a:ext cx="11087100" cy="215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000" b="1">
                <a:solidFill>
                  <a:srgbClr val="087F8C"/>
                </a:solidFill>
                <a:latin typeface="DejaVu Sans"/>
              </a:defRPr>
            </a:pPr>
            <a:r>
              <a:t>CREDIT MODEL STUDY  /  16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647700"/>
            <a:ext cx="11087100" cy="48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900" b="1">
                <a:solidFill>
                  <a:srgbClr val="152B3A"/>
                </a:solidFill>
                <a:latin typeface="DejaVu Sans"/>
              </a:defRPr>
            </a:pPr>
            <a:r>
              <a:t>Both families: strengths and costs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549400"/>
            <a:ext cx="110871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46774"/>
                </a:solidFill>
                <a:latin typeface="DejaVu Sans"/>
              </a:defRPr>
            </a:pPr>
            <a:r>
              <a:t>Interpretability does not compensate for poor probability estimates or incomplete data provenance.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1905000"/>
            <a:ext cx="11049000" cy="622300"/>
          </a:xfrm>
          <a:prstGeom prst="rect">
            <a:avLst/>
          </a:prstGeom>
          <a:solidFill>
            <a:srgbClr val="15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2032000"/>
            <a:ext cx="188341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2797810" y="2032000"/>
            <a:ext cx="4258945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Logistic regression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72655" y="2032000"/>
            <a:ext cx="4258945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XGBoost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" y="2527300"/>
            <a:ext cx="11049000" cy="622300"/>
          </a:xfrm>
          <a:prstGeom prst="rect">
            <a:avLst/>
          </a:prstGeom>
          <a:solidFill>
            <a:srgbClr val="F6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8500" y="2654300"/>
            <a:ext cx="188341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1">
                <a:solidFill>
                  <a:srgbClr val="152B3A"/>
                </a:solidFill>
                <a:latin typeface="DejaVu Sans"/>
              </a:defRPr>
            </a:pPr>
            <a:r>
              <a:t>Strength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97810" y="2654300"/>
            <a:ext cx="4258945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52B3A"/>
                </a:solidFill>
                <a:latin typeface="DejaVu Sans"/>
              </a:defRPr>
            </a:pPr>
            <a:r>
              <a:t>Signed additive margins; sparse variants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72655" y="2654300"/>
            <a:ext cx="4258945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52B3A"/>
                </a:solidFill>
                <a:latin typeface="DejaVu Sans"/>
              </a:defRPr>
            </a:pPr>
            <a:r>
              <a:t>Nonlinearities and interactions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3149600"/>
            <a:ext cx="11049000" cy="6223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8500" y="3276600"/>
            <a:ext cx="188341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1">
                <a:solidFill>
                  <a:srgbClr val="152B3A"/>
                </a:solidFill>
                <a:latin typeface="DejaVu Sans"/>
              </a:defRPr>
            </a:pPr>
            <a:r>
              <a:t>Weakness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97810" y="3276600"/>
            <a:ext cx="4258945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52B3A"/>
                </a:solidFill>
                <a:latin typeface="DejaVu Sans"/>
              </a:defRPr>
            </a:pPr>
            <a:r>
              <a:t>Representation and extreme-value sensitivity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72655" y="3276600"/>
            <a:ext cx="4258945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52B3A"/>
                </a:solidFill>
                <a:latin typeface="DejaVu Sans"/>
              </a:defRPr>
            </a:pPr>
            <a:r>
              <a:t>Overfit and tuning complexity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" y="3771900"/>
            <a:ext cx="11049000" cy="622300"/>
          </a:xfrm>
          <a:prstGeom prst="rect">
            <a:avLst/>
          </a:prstGeom>
          <a:solidFill>
            <a:srgbClr val="F6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8500" y="3898900"/>
            <a:ext cx="188341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1">
                <a:solidFill>
                  <a:srgbClr val="152B3A"/>
                </a:solidFill>
                <a:latin typeface="DejaVu Sans"/>
              </a:defRPr>
            </a:pPr>
            <a:r>
              <a:t>Probability issue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97810" y="3898900"/>
            <a:ext cx="4258945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52B3A"/>
                </a:solidFill>
                <a:latin typeface="DejaVu Sans"/>
              </a:defRPr>
            </a:pPr>
            <a:r>
              <a:t>Weighting and intercept penalization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72655" y="3898900"/>
            <a:ext cx="4258945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52B3A"/>
                </a:solidFill>
                <a:latin typeface="DejaVu Sans"/>
              </a:defRPr>
            </a:pPr>
            <a:r>
              <a:t>Small calibration sets; score shrinkage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1500" y="4394200"/>
            <a:ext cx="11049000" cy="6223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8500" y="4521200"/>
            <a:ext cx="188341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1">
                <a:solidFill>
                  <a:srgbClr val="152B3A"/>
                </a:solidFill>
                <a:latin typeface="DejaVu Sans"/>
              </a:defRPr>
            </a:pPr>
            <a:r>
              <a:t>Interpretation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97810" y="4521200"/>
            <a:ext cx="4258945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52B3A"/>
                </a:solidFill>
                <a:latin typeface="DejaVu Sans"/>
              </a:defRPr>
            </a:pPr>
            <a:r>
              <a:t>Exact native terms; Linear SHAP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72655" y="4521200"/>
            <a:ext cx="4258945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52B3A"/>
                </a:solidFill>
                <a:latin typeface="DejaVu Sans"/>
              </a:defRPr>
            </a:pPr>
            <a:r>
              <a:t>Gain has no direction; Tree SHAP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1500" y="5016500"/>
            <a:ext cx="11049000" cy="622300"/>
          </a:xfrm>
          <a:prstGeom prst="rect">
            <a:avLst/>
          </a:prstGeom>
          <a:solidFill>
            <a:srgbClr val="F6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8500" y="5143500"/>
            <a:ext cx="1883410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1">
                <a:solidFill>
                  <a:srgbClr val="152B3A"/>
                </a:solidFill>
                <a:latin typeface="DejaVu Sans"/>
              </a:defRPr>
            </a:pPr>
            <a:r>
              <a:t>Observed limit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97810" y="5143500"/>
            <a:ext cx="4258945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52B3A"/>
                </a:solidFill>
                <a:latin typeface="DejaVu Sans"/>
              </a:defRPr>
            </a:pPr>
            <a:r>
              <a:t>No clear family-level AP win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72655" y="5143500"/>
            <a:ext cx="4258945" cy="260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152B3A"/>
                </a:solidFill>
                <a:latin typeface="DejaVu Sans"/>
              </a:defRPr>
            </a:pPr>
            <a:r>
              <a:t>Low LIME fidelity in the studied 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" y="6502400"/>
            <a:ext cx="103251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546774"/>
                </a:solidFill>
                <a:latin typeface="DejaVu Sans"/>
              </a:defRPr>
            </a:pPr>
            <a:r>
              <a:t>Development CV evidence • historical test excluded • docs/portfolio-audit.md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12500" y="6502400"/>
            <a:ext cx="7366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152B3A"/>
                </a:solidFill>
                <a:latin typeface="DejaVu Sans"/>
              </a:defRPr>
            </a:pPr>
            <a:r>
              <a:t>21 / 35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04800"/>
            <a:ext cx="11087100" cy="215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000" b="1">
                <a:solidFill>
                  <a:srgbClr val="087F8C"/>
                </a:solidFill>
                <a:latin typeface="DejaVu Sans"/>
              </a:defRPr>
            </a:pPr>
            <a:r>
              <a:t>CREDIT MODEL STUDY  /  16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647700"/>
            <a:ext cx="11087100" cy="48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900" b="1">
                <a:solidFill>
                  <a:srgbClr val="152B3A"/>
                </a:solidFill>
                <a:latin typeface="DejaVu Sans"/>
              </a:defRPr>
            </a:pPr>
            <a:r>
              <a:t>Expanded interpretation, without favorable-case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092200"/>
            <a:ext cx="11087100" cy="48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900" b="1">
                <a:solidFill>
                  <a:srgbClr val="152B3A"/>
                </a:solidFill>
                <a:latin typeface="DejaVu Sans"/>
              </a:defRPr>
            </a:pPr>
            <a:r>
              <a:t>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549400"/>
            <a:ext cx="110871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46774"/>
                </a:solidFill>
                <a:latin typeface="DejaVu Sans"/>
              </a:defRPr>
            </a:pPr>
            <a:r>
              <a:t>Predeclared outer repeat 0/fold 0; recipe chosen by inner AP. No historical test explanations are added.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000" y="1968500"/>
            <a:ext cx="3471333" cy="1625600"/>
          </a:xfrm>
          <a:prstGeom prst="rect">
            <a:avLst/>
          </a:prstGeom>
          <a:solidFill>
            <a:srgbClr val="F6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5500" y="2146300"/>
            <a:ext cx="3128433" cy="2266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100" b="1">
                <a:solidFill>
                  <a:srgbClr val="546774"/>
                </a:solidFill>
                <a:latin typeface="DejaVu Sans"/>
              </a:defRPr>
            </a:pPr>
            <a:r>
              <a:t>SHAP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500" y="2451100"/>
            <a:ext cx="3128433" cy="569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3100" b="1">
                <a:solidFill>
                  <a:srgbClr val="087F8C"/>
                </a:solidFill>
                <a:latin typeface="DejaVu Sans"/>
              </a:defRPr>
            </a:pPr>
            <a:r>
              <a:t>800 / family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5500" y="3098800"/>
            <a:ext cx="3128433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546774"/>
                </a:solidFill>
                <a:latin typeface="DejaVu Sans"/>
              </a:defRPr>
            </a:pPr>
            <a:r>
              <a:t>All held-out rows in that outer fold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0333" y="1968500"/>
            <a:ext cx="3471333" cy="1625600"/>
          </a:xfrm>
          <a:prstGeom prst="rect">
            <a:avLst/>
          </a:prstGeom>
          <a:solidFill>
            <a:srgbClr val="F6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0833" y="2146300"/>
            <a:ext cx="3128433" cy="2266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100" b="1">
                <a:solidFill>
                  <a:srgbClr val="546774"/>
                </a:solidFill>
                <a:latin typeface="DejaVu Sans"/>
              </a:defRPr>
            </a:pPr>
            <a:r>
              <a:t>SUCCESS / ERROR CASES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0833" y="2451100"/>
            <a:ext cx="3128433" cy="569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3100" b="1">
                <a:solidFill>
                  <a:srgbClr val="152B3A"/>
                </a:solidFill>
                <a:latin typeface="DejaVu Sans"/>
              </a:defRPr>
            </a:pPr>
            <a:r>
              <a:t>32 / family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0833" y="3098800"/>
            <a:ext cx="3128433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546774"/>
                </a:solidFill>
                <a:latin typeface="DejaVu Sans"/>
              </a:defRPr>
            </a:pPr>
            <a:r>
              <a:t>8 random TP, FP, FN, TN cases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85666" y="1968500"/>
            <a:ext cx="3471333" cy="1625600"/>
          </a:xfrm>
          <a:prstGeom prst="rect">
            <a:avLst/>
          </a:prstGeom>
          <a:solidFill>
            <a:srgbClr val="F6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6166" y="2146300"/>
            <a:ext cx="3128433" cy="2266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100" b="1">
                <a:solidFill>
                  <a:srgbClr val="546774"/>
                </a:solidFill>
                <a:latin typeface="DejaVu Sans"/>
              </a:defRPr>
            </a:pPr>
            <a:r>
              <a:t>LIME FITS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6166" y="2451100"/>
            <a:ext cx="3128433" cy="569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3100" b="1">
                <a:solidFill>
                  <a:srgbClr val="B36B00"/>
                </a:solidFill>
                <a:latin typeface="DejaVu Sans"/>
              </a:defRPr>
            </a:pPr>
            <a:r>
              <a:t>192 total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6166" y="3098800"/>
            <a:ext cx="3128433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546774"/>
                </a:solidFill>
                <a:latin typeface="DejaVu Sans"/>
              </a:defRPr>
            </a:pPr>
            <a:r>
              <a:t>3 seeds × 32 cases × 2 families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000" y="4279900"/>
            <a:ext cx="50800" cy="1143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3600" y="4191000"/>
            <a:ext cx="10604500" cy="3638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900" b="0">
                <a:solidFill>
                  <a:srgbClr val="152B3A"/>
                </a:solidFill>
                <a:latin typeface="DejaVu Sans"/>
              </a:defRPr>
            </a:pPr>
            <a:r>
              <a:t>Three fit-only SHAP backgrounds test reference sensitivity.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000" y="4821555"/>
            <a:ext cx="50800" cy="1143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3600" y="4732655"/>
            <a:ext cx="10604500" cy="3638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900" b="0">
                <a:solidFill>
                  <a:srgbClr val="152B3A"/>
                </a:solidFill>
                <a:latin typeface="DejaVu Sans"/>
              </a:defRPr>
            </a:pPr>
            <a:r>
              <a:t>Native/SHAP explain base log odds. LIME approximates base probability; calibrated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600" y="5058409"/>
            <a:ext cx="10604500" cy="3638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900" b="0">
                <a:solidFill>
                  <a:srgbClr val="152B3A"/>
                </a:solidFill>
                <a:latin typeface="DejaVu Sans"/>
              </a:defRPr>
            </a:pPr>
            <a:r>
              <a:t>decisions are separate.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" y="6502400"/>
            <a:ext cx="103251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546774"/>
                </a:solidFill>
                <a:latin typeface="DejaVu Sans"/>
              </a:defRPr>
            </a:pPr>
            <a:r>
              <a:t>Development CV evidence • historical test excluded • docs/portfolio-audit.md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12500" y="6502400"/>
            <a:ext cx="7366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152B3A"/>
                </a:solidFill>
                <a:latin typeface="DejaVu Sans"/>
              </a:defRPr>
            </a:pPr>
            <a:r>
              <a:t>22 / 35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04800"/>
            <a:ext cx="11087100" cy="215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000" b="1">
                <a:solidFill>
                  <a:srgbClr val="087F8C"/>
                </a:solidFill>
                <a:latin typeface="DejaVu Sans"/>
              </a:defRPr>
            </a:pPr>
            <a:r>
              <a:t>CREDIT MODEL STUDY  /  16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647700"/>
            <a:ext cx="11087100" cy="48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900" b="1">
                <a:solidFill>
                  <a:srgbClr val="152B3A"/>
                </a:solidFill>
                <a:latin typeface="DejaVu Sans"/>
              </a:defRPr>
            </a:pPr>
            <a:r>
              <a:t>Native glassbox: actual fitted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549400"/>
            <a:ext cx="110871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46774"/>
                </a:solidFill>
                <a:latin typeface="DejaVu Sans"/>
              </a:defRPr>
            </a:pPr>
            <a:r>
              <a:t>Coefficient signs describe the base logistic margin; tree gain is unsigned training split importance.</a:t>
            </a:r>
          </a:p>
        </p:txBody>
      </p:sp>
      <p:pic>
        <p:nvPicPr>
          <p:cNvPr id="5" name="Picture 4" descr="glassbox_n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3666" y="1841500"/>
            <a:ext cx="7824666" cy="4127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6502400"/>
            <a:ext cx="103251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546774"/>
                </a:solidFill>
                <a:latin typeface="DejaVu Sans"/>
              </a:defRPr>
            </a:pPr>
            <a:r>
              <a:t>Development CV evidence • historical test excluded • docs/portfolio-audit.md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500" y="6502400"/>
            <a:ext cx="7366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152B3A"/>
                </a:solidFill>
                <a:latin typeface="DejaVu Sans"/>
              </a:defRPr>
            </a:pPr>
            <a:r>
              <a:t>23 / 35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04800"/>
            <a:ext cx="11087100" cy="215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000" b="1">
                <a:solidFill>
                  <a:srgbClr val="087F8C"/>
                </a:solidFill>
                <a:latin typeface="DejaVu Sans"/>
              </a:defRPr>
            </a:pPr>
            <a:r>
              <a:t>CREDIT MODEL STUDY  /  16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647700"/>
            <a:ext cx="11087100" cy="48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900" b="1">
                <a:solidFill>
                  <a:srgbClr val="152B3A"/>
                </a:solidFill>
                <a:latin typeface="DejaVu Sans"/>
              </a:defRPr>
            </a:pPr>
            <a:r>
              <a:t>Native blackbox: actual fitted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549400"/>
            <a:ext cx="110871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46774"/>
                </a:solidFill>
                <a:latin typeface="DejaVu Sans"/>
              </a:defRPr>
            </a:pPr>
            <a:r>
              <a:t>Coefficient signs describe the base logistic margin; tree gain is unsigned training split importance.</a:t>
            </a:r>
          </a:p>
        </p:txBody>
      </p:sp>
      <p:pic>
        <p:nvPicPr>
          <p:cNvPr id="5" name="Picture 4" descr="blackbox_n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5980" y="1841500"/>
            <a:ext cx="7820039" cy="4127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6502400"/>
            <a:ext cx="103251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546774"/>
                </a:solidFill>
                <a:latin typeface="DejaVu Sans"/>
              </a:defRPr>
            </a:pPr>
            <a:r>
              <a:t>Development CV evidence • historical test excluded • docs/portfolio-audit.md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500" y="6502400"/>
            <a:ext cx="7366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152B3A"/>
                </a:solidFill>
                <a:latin typeface="DejaVu Sans"/>
              </a:defRPr>
            </a:pPr>
            <a:r>
              <a:t>24 / 35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04800"/>
            <a:ext cx="11087100" cy="215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000" b="1">
                <a:solidFill>
                  <a:srgbClr val="087F8C"/>
                </a:solidFill>
                <a:latin typeface="DejaVu Sans"/>
              </a:defRPr>
            </a:pPr>
            <a:r>
              <a:t>CREDIT MODEL STUDY  /  16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647700"/>
            <a:ext cx="11087100" cy="48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900" b="1">
                <a:solidFill>
                  <a:srgbClr val="152B3A"/>
                </a:solidFill>
                <a:latin typeface="DejaVu Sans"/>
              </a:defRPr>
            </a:pPr>
            <a:r>
              <a:t>Global SHAP: glassbox, 800 development rows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549400"/>
            <a:ext cx="110871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46774"/>
                </a:solidFill>
                <a:latin typeface="DejaVu Sans"/>
              </a:defRPr>
            </a:pPr>
            <a:r>
              <a:t>Mean absolute base-log-odds attribution averaged across three training backgrounds.</a:t>
            </a:r>
          </a:p>
        </p:txBody>
      </p:sp>
      <p:pic>
        <p:nvPicPr>
          <p:cNvPr id="5" name="Picture 4" descr="glassbox_sh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8294" y="1841500"/>
            <a:ext cx="7815411" cy="4127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6502400"/>
            <a:ext cx="103251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546774"/>
                </a:solidFill>
                <a:latin typeface="DejaVu Sans"/>
              </a:defRPr>
            </a:pPr>
            <a:r>
              <a:t>Development CV evidence • historical test excluded • docs/portfolio-audit.md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500" y="6502400"/>
            <a:ext cx="7366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152B3A"/>
                </a:solidFill>
                <a:latin typeface="DejaVu Sans"/>
              </a:defRPr>
            </a:pPr>
            <a:r>
              <a:t>25 / 35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04800"/>
            <a:ext cx="11087100" cy="215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000" b="1">
                <a:solidFill>
                  <a:srgbClr val="087F8C"/>
                </a:solidFill>
                <a:latin typeface="DejaVu Sans"/>
              </a:defRPr>
            </a:pPr>
            <a:r>
              <a:t>CREDIT MODEL STUDY  /  16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647700"/>
            <a:ext cx="11087100" cy="48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900" b="1">
                <a:solidFill>
                  <a:srgbClr val="152B3A"/>
                </a:solidFill>
                <a:latin typeface="DejaVu Sans"/>
              </a:defRPr>
            </a:pPr>
            <a:r>
              <a:t>Global SHAP: blackbox, 800 development rows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549400"/>
            <a:ext cx="110871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46774"/>
                </a:solidFill>
                <a:latin typeface="DejaVu Sans"/>
              </a:defRPr>
            </a:pPr>
            <a:r>
              <a:t>Mean absolute base-log-odds attribution averaged across three training backgrounds.</a:t>
            </a:r>
          </a:p>
        </p:txBody>
      </p:sp>
      <p:pic>
        <p:nvPicPr>
          <p:cNvPr id="5" name="Picture 4" descr="blackbox_sh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5980" y="1841500"/>
            <a:ext cx="7820039" cy="4127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6502400"/>
            <a:ext cx="103251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546774"/>
                </a:solidFill>
                <a:latin typeface="DejaVu Sans"/>
              </a:defRPr>
            </a:pPr>
            <a:r>
              <a:t>Development CV evidence • historical test excluded • docs/portfolio-audit.md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500" y="6502400"/>
            <a:ext cx="7366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152B3A"/>
                </a:solidFill>
                <a:latin typeface="DejaVu Sans"/>
              </a:defRPr>
            </a:pPr>
            <a:r>
              <a:t>26 / 35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04800"/>
            <a:ext cx="11087100" cy="215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000" b="1">
                <a:solidFill>
                  <a:srgbClr val="087F8C"/>
                </a:solidFill>
                <a:latin typeface="DejaVu Sans"/>
              </a:defRPr>
            </a:pPr>
            <a:r>
              <a:t>CREDIT MODEL STUDY  /  16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647700"/>
            <a:ext cx="11087100" cy="48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900" b="1">
                <a:solidFill>
                  <a:srgbClr val="152B3A"/>
                </a:solidFill>
                <a:latin typeface="DejaVu Sans"/>
              </a:defRPr>
            </a:pPr>
            <a:r>
              <a:t>Error analysis: glassbox, a missed default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549400"/>
            <a:ext cx="110871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46774"/>
                </a:solidFill>
                <a:latin typeface="DejaVu Sans"/>
              </a:defRPr>
            </a:pPr>
            <a:r>
              <a:t>First randomly sampled FN in the fixed development fold; signed effects explain the base classifier.</a:t>
            </a:r>
          </a:p>
        </p:txBody>
      </p:sp>
      <p:pic>
        <p:nvPicPr>
          <p:cNvPr id="5" name="Picture 4" descr="glassbox_local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422" y="1866900"/>
            <a:ext cx="8235155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000" y="5753100"/>
            <a:ext cx="10833100" cy="312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600" b="1">
                <a:solidFill>
                  <a:srgbClr val="152B3A"/>
                </a:solidFill>
                <a:latin typeface="DejaVu Sans"/>
              </a:defRPr>
            </a:pPr>
            <a:r>
              <a:t>Row 0: actual 1; base 0.4617 → sigmoid 0.0612 &lt; t 0.0627.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6502400"/>
            <a:ext cx="103251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546774"/>
                </a:solidFill>
                <a:latin typeface="DejaVu Sans"/>
              </a:defRPr>
            </a:pPr>
            <a:r>
              <a:t>Development CV evidence • historical test excluded • docs/portfolio-audit.md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2500" y="6502400"/>
            <a:ext cx="7366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152B3A"/>
                </a:solidFill>
                <a:latin typeface="DejaVu Sans"/>
              </a:defRPr>
            </a:pPr>
            <a:r>
              <a:t>27 / 35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04800"/>
            <a:ext cx="11087100" cy="215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000" b="1">
                <a:solidFill>
                  <a:srgbClr val="087F8C"/>
                </a:solidFill>
                <a:latin typeface="DejaVu Sans"/>
              </a:defRPr>
            </a:pPr>
            <a:r>
              <a:t>CREDIT MODEL STUDY  /  16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647700"/>
            <a:ext cx="11087100" cy="48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900" b="1">
                <a:solidFill>
                  <a:srgbClr val="152B3A"/>
                </a:solidFill>
                <a:latin typeface="DejaVu Sans"/>
              </a:defRPr>
            </a:pPr>
            <a:r>
              <a:t>Error analysis: blackbox, a missed default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549400"/>
            <a:ext cx="110871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46774"/>
                </a:solidFill>
                <a:latin typeface="DejaVu Sans"/>
              </a:defRPr>
            </a:pPr>
            <a:r>
              <a:t>First randomly sampled FN in the fixed development fold; signed effects explain the base classifier.</a:t>
            </a:r>
          </a:p>
        </p:txBody>
      </p:sp>
      <p:pic>
        <p:nvPicPr>
          <p:cNvPr id="5" name="Picture 4" descr="blackbox_local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422" y="1866900"/>
            <a:ext cx="8235155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000" y="5753100"/>
            <a:ext cx="10833100" cy="312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600" b="1">
                <a:solidFill>
                  <a:srgbClr val="152B3A"/>
                </a:solidFill>
                <a:latin typeface="DejaVu Sans"/>
              </a:defRPr>
            </a:pPr>
            <a:r>
              <a:t>Row 14: actual 1; base 0.0283 → sigmoid 0.0443 &lt; t 0.0541.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6502400"/>
            <a:ext cx="103251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546774"/>
                </a:solidFill>
                <a:latin typeface="DejaVu Sans"/>
              </a:defRPr>
            </a:pPr>
            <a:r>
              <a:t>Development CV evidence • historical test excluded • docs/portfolio-audit.md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2500" y="6502400"/>
            <a:ext cx="7366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152B3A"/>
                </a:solidFill>
                <a:latin typeface="DejaVu Sans"/>
              </a:defRPr>
            </a:pPr>
            <a:r>
              <a:t>28 / 35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04800"/>
            <a:ext cx="11087100" cy="215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000" b="1">
                <a:solidFill>
                  <a:srgbClr val="087F8C"/>
                </a:solidFill>
                <a:latin typeface="DejaVu Sans"/>
              </a:defRPr>
            </a:pPr>
            <a:r>
              <a:t>CREDIT MODEL STUDY  /  16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647700"/>
            <a:ext cx="11087100" cy="48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900" b="1">
                <a:solidFill>
                  <a:srgbClr val="152B3A"/>
                </a:solidFill>
                <a:latin typeface="DejaVu Sans"/>
              </a:defRPr>
            </a:pPr>
            <a:r>
              <a:t>Correlated fields can redistribute credit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549400"/>
            <a:ext cx="110871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46774"/>
                </a:solidFill>
                <a:latin typeface="DejaVu Sans"/>
              </a:defRPr>
            </a:pPr>
            <a:r>
              <a:t>Fit-only correlation groups sum signed SHAP terms before taking mean absolute magnitude.</a:t>
            </a:r>
          </a:p>
        </p:txBody>
      </p:sp>
      <p:pic>
        <p:nvPicPr>
          <p:cNvPr id="5" name="Picture 4" descr="glassbox_grou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5980" y="1841500"/>
            <a:ext cx="7820039" cy="4127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6502400"/>
            <a:ext cx="103251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546774"/>
                </a:solidFill>
                <a:latin typeface="DejaVu Sans"/>
              </a:defRPr>
            </a:pPr>
            <a:r>
              <a:t>Development CV evidence • historical test excluded • docs/portfolio-audit.md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500" y="6502400"/>
            <a:ext cx="7366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152B3A"/>
                </a:solidFill>
                <a:latin typeface="DejaVu Sans"/>
              </a:defRPr>
            </a:pPr>
            <a:r>
              <a:t>29 / 35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04800"/>
            <a:ext cx="11087100" cy="215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000" b="1">
                <a:solidFill>
                  <a:srgbClr val="087F8C"/>
                </a:solidFill>
                <a:latin typeface="DejaVu Sans"/>
              </a:defRPr>
            </a:pPr>
            <a:r>
              <a:t>CREDIT MODEL STUDY  /  16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647700"/>
            <a:ext cx="11087100" cy="48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900" b="1">
                <a:solidFill>
                  <a:srgbClr val="152B3A"/>
                </a:solidFill>
                <a:latin typeface="DejaVu Sans"/>
              </a:defRPr>
            </a:pPr>
            <a:r>
              <a:t>Explanation stability has several meanings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549400"/>
            <a:ext cx="110871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46774"/>
                </a:solidFill>
                <a:latin typeface="DejaVu Sans"/>
              </a:defRPr>
            </a:pPr>
            <a:r>
              <a:t>Background stability does not establish retraining stability, causal validity or subgroup fairness.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1905000"/>
            <a:ext cx="11049000" cy="889000"/>
          </a:xfrm>
          <a:prstGeom prst="rect">
            <a:avLst/>
          </a:prstGeom>
          <a:solidFill>
            <a:srgbClr val="15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2032000"/>
            <a:ext cx="177292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1">
                <a:solidFill>
                  <a:srgbClr val="FFFFFF"/>
                </a:solidFill>
                <a:latin typeface="DejaVu Sans"/>
              </a:defRPr>
            </a:pPr>
            <a:r>
              <a:t>Family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87320" y="2032000"/>
            <a:ext cx="287782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1">
                <a:solidFill>
                  <a:srgbClr val="FFFFFF"/>
                </a:solidFill>
                <a:latin typeface="DejaVu Sans"/>
              </a:defRPr>
            </a:pPr>
            <a:r>
              <a:t>SHAP top-10 Jaccard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81040" y="2032000"/>
            <a:ext cx="276733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1">
                <a:solidFill>
                  <a:srgbClr val="FFFFFF"/>
                </a:solidFill>
                <a:latin typeface="DejaVu Sans"/>
              </a:defRPr>
            </a:pPr>
            <a:r>
              <a:t>SHAP rank correlation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4270" y="2032000"/>
            <a:ext cx="276733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1">
                <a:solidFill>
                  <a:srgbClr val="FFFFFF"/>
                </a:solidFill>
                <a:latin typeface="DejaVu Sans"/>
              </a:defRPr>
            </a:pPr>
            <a:r>
              <a:t>LIME selected-15 Jaccard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1500" y="2794000"/>
            <a:ext cx="11049000" cy="889000"/>
          </a:xfrm>
          <a:prstGeom prst="rect">
            <a:avLst/>
          </a:prstGeom>
          <a:solidFill>
            <a:srgbClr val="F6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8500" y="2921000"/>
            <a:ext cx="177292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1">
                <a:solidFill>
                  <a:srgbClr val="152B3A"/>
                </a:solidFill>
                <a:latin typeface="DejaVu Sans"/>
              </a:defRPr>
            </a:pPr>
            <a:r>
              <a:t>glassbox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87320" y="2921000"/>
            <a:ext cx="287782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0">
                <a:solidFill>
                  <a:srgbClr val="152B3A"/>
                </a:solidFill>
                <a:latin typeface="DejaVu Sans"/>
              </a:defRPr>
            </a:pPr>
            <a:r>
              <a:t>1.000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81040" y="2921000"/>
            <a:ext cx="276733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0">
                <a:solidFill>
                  <a:srgbClr val="152B3A"/>
                </a:solidFill>
                <a:latin typeface="DejaVu Sans"/>
              </a:defRPr>
            </a:pPr>
            <a:r>
              <a:t>0.970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4270" y="2921000"/>
            <a:ext cx="276733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0">
                <a:solidFill>
                  <a:srgbClr val="152B3A"/>
                </a:solidFill>
                <a:latin typeface="DejaVu Sans"/>
              </a:defRPr>
            </a:pPr>
            <a:r>
              <a:t>0.984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1500" y="3683000"/>
            <a:ext cx="11049000" cy="889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8500" y="3810000"/>
            <a:ext cx="177292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1">
                <a:solidFill>
                  <a:srgbClr val="152B3A"/>
                </a:solidFill>
                <a:latin typeface="DejaVu Sans"/>
              </a:defRPr>
            </a:pPr>
            <a:r>
              <a:t>blackbox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87320" y="3810000"/>
            <a:ext cx="287782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0">
                <a:solidFill>
                  <a:srgbClr val="152B3A"/>
                </a:solidFill>
                <a:latin typeface="DejaVu Sans"/>
              </a:defRPr>
            </a:pPr>
            <a:r>
              <a:t>0.879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81040" y="3810000"/>
            <a:ext cx="276733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0">
                <a:solidFill>
                  <a:srgbClr val="152B3A"/>
                </a:solidFill>
                <a:latin typeface="DejaVu Sans"/>
              </a:defRPr>
            </a:pPr>
            <a:r>
              <a:t>1.000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64270" y="3810000"/>
            <a:ext cx="2767330" cy="2781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400" b="0">
                <a:solidFill>
                  <a:srgbClr val="152B3A"/>
                </a:solidFill>
                <a:latin typeface="DejaVu Sans"/>
              </a:defRPr>
            </a:pPr>
            <a:r>
              <a:t>0.587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000" y="5422900"/>
            <a:ext cx="10833100" cy="3295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700" b="0">
                <a:solidFill>
                  <a:srgbClr val="546774"/>
                </a:solidFill>
                <a:latin typeface="DejaVu Sans"/>
              </a:defRPr>
            </a:pPr>
            <a:r>
              <a:t>Active/retained raw-field Jaccard across all six fitted folds is also exported for every recipe.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" y="6502400"/>
            <a:ext cx="103251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546774"/>
                </a:solidFill>
                <a:latin typeface="DejaVu Sans"/>
              </a:defRPr>
            </a:pPr>
            <a:r>
              <a:t>Development CV evidence • historical test excluded • docs/portfolio-audit.md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12500" y="6502400"/>
            <a:ext cx="7366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152B3A"/>
                </a:solidFill>
                <a:latin typeface="DejaVu Sans"/>
              </a:defRPr>
            </a:pPr>
            <a:r>
              <a:t>30 / 35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04800"/>
            <a:ext cx="11087100" cy="215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000" b="1">
                <a:solidFill>
                  <a:srgbClr val="087F8C"/>
                </a:solidFill>
                <a:latin typeface="DejaVu Sans"/>
              </a:defRPr>
            </a:pPr>
            <a:r>
              <a:t>CREDIT MODEL STUDY  /  16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647700"/>
            <a:ext cx="11087100" cy="48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900" b="1">
                <a:solidFill>
                  <a:srgbClr val="152B3A"/>
                </a:solidFill>
                <a:latin typeface="DejaVu Sans"/>
              </a:defRPr>
            </a:pPr>
            <a:r>
              <a:t>LIME fidelity is weak for this tree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549400"/>
            <a:ext cx="110871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46774"/>
                </a:solidFill>
                <a:latin typeface="DejaVu Sans"/>
              </a:defRPr>
            </a:pPr>
            <a:r>
              <a:t>32 cases/family × 3 seeds × 2,000 perturbations; synthetic-neighborhood R² is not held-out faithfulness.</a:t>
            </a:r>
          </a:p>
        </p:txBody>
      </p:sp>
      <p:pic>
        <p:nvPicPr>
          <p:cNvPr id="5" name="Picture 4" descr="lime_fide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772" y="1841500"/>
            <a:ext cx="11008455" cy="4127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6502400"/>
            <a:ext cx="103251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546774"/>
                </a:solidFill>
                <a:latin typeface="DejaVu Sans"/>
              </a:defRPr>
            </a:pPr>
            <a:r>
              <a:t>Development CV evidence • historical test excluded • docs/portfolio-audit.md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2500" y="6502400"/>
            <a:ext cx="7366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152B3A"/>
                </a:solidFill>
                <a:latin typeface="DejaVu Sans"/>
              </a:defRPr>
            </a:pPr>
            <a:r>
              <a:t>31 / 35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04800"/>
            <a:ext cx="11087100" cy="215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000" b="1">
                <a:solidFill>
                  <a:srgbClr val="087F8C"/>
                </a:solidFill>
                <a:latin typeface="DejaVu Sans"/>
              </a:defRPr>
            </a:pPr>
            <a:r>
              <a:t>CREDIT MODEL STUDY  /  16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647700"/>
            <a:ext cx="11087100" cy="48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900" b="1">
                <a:solidFill>
                  <a:srgbClr val="152B3A"/>
                </a:solidFill>
                <a:latin typeface="DejaVu Sans"/>
              </a:defRPr>
            </a:pPr>
            <a:r>
              <a:t>Successes and errors are all retained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549400"/>
            <a:ext cx="110871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46774"/>
                </a:solidFill>
                <a:latin typeface="DejaVu Sans"/>
              </a:defRPr>
            </a:pPr>
            <a:r>
              <a:t>Balanced confusion-cell sampling is illustrative; it is not a population-weighted case distribution.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1905000"/>
            <a:ext cx="11049000" cy="444500"/>
          </a:xfrm>
          <a:prstGeom prst="rect">
            <a:avLst/>
          </a:prstGeom>
          <a:solidFill>
            <a:srgbClr val="15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2032000"/>
            <a:ext cx="232537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1">
                <a:solidFill>
                  <a:srgbClr val="FFFFFF"/>
                </a:solidFill>
                <a:latin typeface="DejaVu Sans"/>
              </a:defRPr>
            </a:pPr>
            <a:r>
              <a:t>Family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39770" y="2032000"/>
            <a:ext cx="133096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1">
                <a:solidFill>
                  <a:srgbClr val="FFFFFF"/>
                </a:solidFill>
                <a:latin typeface="DejaVu Sans"/>
              </a:defRPr>
            </a:pPr>
            <a:r>
              <a:t>Cell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86630" y="2032000"/>
            <a:ext cx="133096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1">
                <a:solidFill>
                  <a:srgbClr val="FFFFFF"/>
                </a:solidFill>
                <a:latin typeface="DejaVu Sans"/>
              </a:defRPr>
            </a:pPr>
            <a:r>
              <a:t>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3490" y="2032000"/>
            <a:ext cx="243586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1">
                <a:solidFill>
                  <a:srgbClr val="FFFFFF"/>
                </a:solidFill>
                <a:latin typeface="DejaVu Sans"/>
              </a:defRPr>
            </a:pPr>
            <a:r>
              <a:t>Median 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85250" y="2032000"/>
            <a:ext cx="254635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1">
                <a:solidFill>
                  <a:srgbClr val="FFFFFF"/>
                </a:solidFill>
                <a:latin typeface="DejaVu Sans"/>
              </a:defRPr>
            </a:pPr>
            <a:r>
              <a:t>Median sigmoid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1500" y="2349500"/>
            <a:ext cx="11049000" cy="444500"/>
          </a:xfrm>
          <a:prstGeom prst="rect">
            <a:avLst/>
          </a:prstGeom>
          <a:solidFill>
            <a:srgbClr val="F6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8500" y="2476500"/>
            <a:ext cx="232537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1">
                <a:solidFill>
                  <a:srgbClr val="152B3A"/>
                </a:solidFill>
                <a:latin typeface="DejaVu Sans"/>
              </a:defRPr>
            </a:pPr>
            <a:r>
              <a:t>blackbox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9770" y="2476500"/>
            <a:ext cx="133096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152B3A"/>
                </a:solidFill>
                <a:latin typeface="DejaVu Sans"/>
              </a:defRPr>
            </a:pPr>
            <a:r>
              <a:t>FN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86630" y="2476500"/>
            <a:ext cx="133096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152B3A"/>
                </a:solidFill>
                <a:latin typeface="DejaVu Sans"/>
              </a:defRPr>
            </a:pPr>
            <a: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3490" y="2476500"/>
            <a:ext cx="243586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152B3A"/>
                </a:solidFill>
                <a:latin typeface="DejaVu Sans"/>
              </a:defRPr>
            </a:pPr>
            <a:r>
              <a:t>0.025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85250" y="2476500"/>
            <a:ext cx="254635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152B3A"/>
                </a:solidFill>
                <a:latin typeface="DejaVu Sans"/>
              </a:defRPr>
            </a:pPr>
            <a:r>
              <a:t>0.041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" y="2794000"/>
            <a:ext cx="11049000" cy="444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8500" y="2921000"/>
            <a:ext cx="232537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1">
                <a:solidFill>
                  <a:srgbClr val="152B3A"/>
                </a:solidFill>
                <a:latin typeface="DejaVu Sans"/>
              </a:defRPr>
            </a:pPr>
            <a:r>
              <a:t>blackbox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39770" y="2921000"/>
            <a:ext cx="133096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152B3A"/>
                </a:solidFill>
                <a:latin typeface="DejaVu Sans"/>
              </a:defRPr>
            </a:pPr>
            <a:r>
              <a:t>FP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86630" y="2921000"/>
            <a:ext cx="133096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152B3A"/>
                </a:solidFill>
                <a:latin typeface="DejaVu Sans"/>
              </a:defRPr>
            </a:pPr>
            <a: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3490" y="2921000"/>
            <a:ext cx="243586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152B3A"/>
                </a:solidFill>
                <a:latin typeface="DejaVu Sans"/>
              </a:defRPr>
            </a:pPr>
            <a:r>
              <a:t>0.065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5250" y="2921000"/>
            <a:ext cx="254635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152B3A"/>
                </a:solidFill>
                <a:latin typeface="DejaVu Sans"/>
              </a:defRPr>
            </a:pPr>
            <a:r>
              <a:t>0.074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1500" y="3238500"/>
            <a:ext cx="11049000" cy="444500"/>
          </a:xfrm>
          <a:prstGeom prst="rect">
            <a:avLst/>
          </a:prstGeom>
          <a:solidFill>
            <a:srgbClr val="F6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8500" y="3365500"/>
            <a:ext cx="232537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1">
                <a:solidFill>
                  <a:srgbClr val="152B3A"/>
                </a:solidFill>
                <a:latin typeface="DejaVu Sans"/>
              </a:defRPr>
            </a:pPr>
            <a:r>
              <a:t>blackbox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39770" y="3365500"/>
            <a:ext cx="133096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152B3A"/>
                </a:solidFill>
                <a:latin typeface="DejaVu Sans"/>
              </a:defRPr>
            </a:pPr>
            <a:r>
              <a:t>TN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86630" y="3365500"/>
            <a:ext cx="133096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152B3A"/>
                </a:solidFill>
                <a:latin typeface="DejaVu Sans"/>
              </a:defRPr>
            </a:pPr>
            <a: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3490" y="3365500"/>
            <a:ext cx="243586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152B3A"/>
                </a:solidFill>
                <a:latin typeface="DejaVu Sans"/>
              </a:defRPr>
            </a:pPr>
            <a:r>
              <a:t>0.015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85250" y="3365500"/>
            <a:ext cx="254635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152B3A"/>
                </a:solidFill>
                <a:latin typeface="DejaVu Sans"/>
              </a:defRPr>
            </a:pPr>
            <a:r>
              <a:t>0.029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71500" y="3683000"/>
            <a:ext cx="11049000" cy="444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8500" y="3810000"/>
            <a:ext cx="232537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1">
                <a:solidFill>
                  <a:srgbClr val="152B3A"/>
                </a:solidFill>
                <a:latin typeface="DejaVu Sans"/>
              </a:defRPr>
            </a:pPr>
            <a:r>
              <a:t>blackbox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39770" y="3810000"/>
            <a:ext cx="133096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152B3A"/>
                </a:solidFill>
                <a:latin typeface="DejaVu Sans"/>
              </a:defRPr>
            </a:pPr>
            <a:r>
              <a:t>TP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86630" y="3810000"/>
            <a:ext cx="133096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152B3A"/>
                </a:solidFill>
                <a:latin typeface="DejaVu Sans"/>
              </a:defRPr>
            </a:pPr>
            <a: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3490" y="3810000"/>
            <a:ext cx="243586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152B3A"/>
                </a:solidFill>
                <a:latin typeface="DejaVu Sans"/>
              </a:defRPr>
            </a:pPr>
            <a:r>
              <a:t>0.115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85250" y="3810000"/>
            <a:ext cx="254635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152B3A"/>
                </a:solidFill>
                <a:latin typeface="DejaVu Sans"/>
              </a:defRPr>
            </a:pPr>
            <a:r>
              <a:t>0.107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1500" y="4127500"/>
            <a:ext cx="11049000" cy="444500"/>
          </a:xfrm>
          <a:prstGeom prst="rect">
            <a:avLst/>
          </a:prstGeom>
          <a:solidFill>
            <a:srgbClr val="F6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8500" y="4254500"/>
            <a:ext cx="232537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1">
                <a:solidFill>
                  <a:srgbClr val="152B3A"/>
                </a:solidFill>
                <a:latin typeface="DejaVu Sans"/>
              </a:defRPr>
            </a:pPr>
            <a:r>
              <a:t>glassbox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39770" y="4254500"/>
            <a:ext cx="133096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152B3A"/>
                </a:solidFill>
                <a:latin typeface="DejaVu Sans"/>
              </a:defRPr>
            </a:pPr>
            <a:r>
              <a:t>FN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86630" y="4254500"/>
            <a:ext cx="133096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152B3A"/>
                </a:solidFill>
                <a:latin typeface="DejaVu Sans"/>
              </a:defRPr>
            </a:pPr>
            <a: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33490" y="4254500"/>
            <a:ext cx="243586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152B3A"/>
                </a:solidFill>
                <a:latin typeface="DejaVu Sans"/>
              </a:defRPr>
            </a:pPr>
            <a:r>
              <a:t>0.470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85250" y="4254500"/>
            <a:ext cx="254635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152B3A"/>
                </a:solidFill>
                <a:latin typeface="DejaVu Sans"/>
              </a:defRPr>
            </a:pPr>
            <a:r>
              <a:t>0.062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71500" y="4572000"/>
            <a:ext cx="11049000" cy="444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8500" y="4699000"/>
            <a:ext cx="232537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1">
                <a:solidFill>
                  <a:srgbClr val="152B3A"/>
                </a:solidFill>
                <a:latin typeface="DejaVu Sans"/>
              </a:defRPr>
            </a:pPr>
            <a:r>
              <a:t>glassbox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39770" y="4699000"/>
            <a:ext cx="133096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152B3A"/>
                </a:solidFill>
                <a:latin typeface="DejaVu Sans"/>
              </a:defRPr>
            </a:pPr>
            <a:r>
              <a:t>FP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86630" y="4699000"/>
            <a:ext cx="133096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152B3A"/>
                </a:solidFill>
                <a:latin typeface="DejaVu Sans"/>
              </a:defRPr>
            </a:pPr>
            <a: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33490" y="4699000"/>
            <a:ext cx="243586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152B3A"/>
                </a:solidFill>
                <a:latin typeface="DejaVu Sans"/>
              </a:defRPr>
            </a:pPr>
            <a:r>
              <a:t>0.476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85250" y="4699000"/>
            <a:ext cx="254635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152B3A"/>
                </a:solidFill>
                <a:latin typeface="DejaVu Sans"/>
              </a:defRPr>
            </a:pPr>
            <a:r>
              <a:t>0.063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71500" y="5016500"/>
            <a:ext cx="11049000" cy="444500"/>
          </a:xfrm>
          <a:prstGeom prst="rect">
            <a:avLst/>
          </a:prstGeom>
          <a:solidFill>
            <a:srgbClr val="F6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98500" y="5143500"/>
            <a:ext cx="232537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1">
                <a:solidFill>
                  <a:srgbClr val="152B3A"/>
                </a:solidFill>
                <a:latin typeface="DejaVu Sans"/>
              </a:defRPr>
            </a:pPr>
            <a:r>
              <a:t>glassbox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39770" y="5143500"/>
            <a:ext cx="133096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152B3A"/>
                </a:solidFill>
                <a:latin typeface="DejaVu Sans"/>
              </a:defRPr>
            </a:pPr>
            <a:r>
              <a:t>TN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86630" y="5143500"/>
            <a:ext cx="133096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152B3A"/>
                </a:solidFill>
                <a:latin typeface="DejaVu Sans"/>
              </a:defRPr>
            </a:pPr>
            <a:r>
              <a:t>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33490" y="5143500"/>
            <a:ext cx="243586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152B3A"/>
                </a:solidFill>
                <a:latin typeface="DejaVu Sans"/>
              </a:defRPr>
            </a:pPr>
            <a:r>
              <a:t>0.466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85250" y="5143500"/>
            <a:ext cx="254635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152B3A"/>
                </a:solidFill>
                <a:latin typeface="DejaVu Sans"/>
              </a:defRPr>
            </a:pPr>
            <a:r>
              <a:t>0.062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71500" y="5461000"/>
            <a:ext cx="11049000" cy="444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8500" y="5588000"/>
            <a:ext cx="232537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1">
                <a:solidFill>
                  <a:srgbClr val="152B3A"/>
                </a:solidFill>
                <a:latin typeface="DejaVu Sans"/>
              </a:defRPr>
            </a:pPr>
            <a:r>
              <a:t>glassbox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39770" y="5588000"/>
            <a:ext cx="133096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152B3A"/>
                </a:solidFill>
                <a:latin typeface="DejaVu Sans"/>
              </a:defRPr>
            </a:pPr>
            <a:r>
              <a:t>TP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86630" y="5588000"/>
            <a:ext cx="133096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152B3A"/>
                </a:solidFill>
                <a:latin typeface="DejaVu Sans"/>
              </a:defRPr>
            </a:pPr>
            <a:r>
              <a:t>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33490" y="5588000"/>
            <a:ext cx="243586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152B3A"/>
                </a:solidFill>
                <a:latin typeface="DejaVu Sans"/>
              </a:defRPr>
            </a:pPr>
            <a:r>
              <a:t>0.481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985250" y="5588000"/>
            <a:ext cx="2546350" cy="243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200" b="0">
                <a:solidFill>
                  <a:srgbClr val="152B3A"/>
                </a:solidFill>
                <a:latin typeface="DejaVu Sans"/>
              </a:defRPr>
            </a:pPr>
            <a:r>
              <a:t>0.064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71500" y="6502400"/>
            <a:ext cx="103251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546774"/>
                </a:solidFill>
                <a:latin typeface="DejaVu Sans"/>
              </a:defRPr>
            </a:pPr>
            <a:r>
              <a:t>Development CV evidence • historical test excluded • docs/portfolio-audit.md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112500" y="6502400"/>
            <a:ext cx="7366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152B3A"/>
                </a:solidFill>
                <a:latin typeface="DejaVu Sans"/>
              </a:defRPr>
            </a:pPr>
            <a:r>
              <a:t>32 / 35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04800"/>
            <a:ext cx="11087100" cy="215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000" b="1">
                <a:solidFill>
                  <a:srgbClr val="087F8C"/>
                </a:solidFill>
                <a:latin typeface="DejaVu Sans"/>
              </a:defRPr>
            </a:pPr>
            <a:r>
              <a:t>CREDIT MODEL STUDY  /  16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647700"/>
            <a:ext cx="11087100" cy="48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900" b="1">
                <a:solidFill>
                  <a:srgbClr val="152B3A"/>
                </a:solidFill>
                <a:latin typeface="DejaVu Sans"/>
              </a:defRPr>
            </a:pPr>
            <a:r>
              <a:t>Reproducibility is part of the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549400"/>
            <a:ext cx="110871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46774"/>
                </a:solidFill>
                <a:latin typeface="DejaVu Sans"/>
              </a:defRPr>
            </a:pPr>
            <a:r>
              <a:t>Every new saved model and every role boundary was checked; historical artifacts were preserved.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993900"/>
            <a:ext cx="50800" cy="1143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3600" y="1905000"/>
            <a:ext cx="10604500" cy="3638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900" b="0">
                <a:solidFill>
                  <a:srgbClr val="152B3A"/>
                </a:solidFill>
                <a:latin typeface="DejaVu Sans"/>
              </a:defRPr>
            </a:pPr>
            <a:r>
              <a:t>126 saved base models: assessment predictions and metrics recomputed after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3600" y="2230755"/>
            <a:ext cx="10604500" cy="3638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900" b="0">
                <a:solidFill>
                  <a:srgbClr val="152B3A"/>
                </a:solidFill>
                <a:latin typeface="DejaVu Sans"/>
              </a:defRPr>
            </a:pPr>
            <a:r>
              <a:t>loading.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" y="2835910"/>
            <a:ext cx="50800" cy="1143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600" y="2747010"/>
            <a:ext cx="10604500" cy="3638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900" b="0">
                <a:solidFill>
                  <a:srgbClr val="152B3A"/>
                </a:solidFill>
                <a:latin typeface="DejaVu Sans"/>
              </a:defRPr>
            </a:pPr>
            <a:r>
              <a:t>19 tests, including outer-label isolation and portable historical exclusions.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352165"/>
            <a:ext cx="50800" cy="1143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600" y="3263265"/>
            <a:ext cx="10604500" cy="3638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900" b="0">
                <a:solidFill>
                  <a:srgbClr val="152B3A"/>
                </a:solidFill>
                <a:latin typeface="DejaVu Sans"/>
              </a:defRPr>
            </a:pPr>
            <a:r>
              <a:t>Refit checks are distinct from saved-model checks; inner L1 search scores vary slightly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3600" y="3589020"/>
            <a:ext cx="10604500" cy="3638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900" b="0">
                <a:solidFill>
                  <a:srgbClr val="152B3A"/>
                </a:solidFill>
                <a:latin typeface="DejaVu Sans"/>
              </a:defRPr>
            </a:pPr>
            <a:r>
              <a:t>between runs.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000" y="4194175"/>
            <a:ext cx="50800" cy="1143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3600" y="4105275"/>
            <a:ext cx="10604500" cy="3638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900" b="0">
                <a:solidFill>
                  <a:srgbClr val="152B3A"/>
                </a:solidFill>
                <a:latin typeface="DejaVu Sans"/>
              </a:defRPr>
            </a:pPr>
            <a:r>
              <a:t>Published code, plan, fold tables, runtimes, environment and presentation; original run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3600" y="4431030"/>
            <a:ext cx="10604500" cy="3638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900" b="0">
                <a:solidFill>
                  <a:srgbClr val="152B3A"/>
                </a:solidFill>
                <a:latin typeface="DejaVu Sans"/>
              </a:defRPr>
            </a:pPr>
            <a:r>
              <a:t>snapshots and theory PDF stay local.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" y="6502400"/>
            <a:ext cx="103251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546774"/>
                </a:solidFill>
                <a:latin typeface="DejaVu Sans"/>
              </a:defRPr>
            </a:pPr>
            <a:r>
              <a:t>Development CV evidence • historical test excluded • docs/portfolio-audit.md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12500" y="6502400"/>
            <a:ext cx="7366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152B3A"/>
                </a:solidFill>
                <a:latin typeface="DejaVu Sans"/>
              </a:defRPr>
            </a:pPr>
            <a:r>
              <a:t>33 / 35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04800"/>
            <a:ext cx="11087100" cy="215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000" b="1">
                <a:solidFill>
                  <a:srgbClr val="087F8C"/>
                </a:solidFill>
                <a:latin typeface="DejaVu Sans"/>
              </a:defRPr>
            </a:pPr>
            <a:r>
              <a:t>CREDIT MODEL STUDY  /  16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647700"/>
            <a:ext cx="11087100" cy="48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900" b="1">
                <a:solidFill>
                  <a:srgbClr val="152B3A"/>
                </a:solidFill>
                <a:latin typeface="DejaVu Sans"/>
              </a:defRPr>
            </a:pPr>
            <a:r>
              <a:t>What would make this deployment evidence?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549400"/>
            <a:ext cx="110871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46774"/>
                </a:solidFill>
                <a:latin typeface="DejaVu Sans"/>
              </a:defRPr>
            </a:pPr>
            <a:r>
              <a:t>Implemented: rigorous local development study. Proposed: external validation and operational design.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993900"/>
            <a:ext cx="50800" cy="1143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3600" y="1905000"/>
            <a:ext cx="10604500" cy="3638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900" b="0">
                <a:solidFill>
                  <a:srgbClr val="152B3A"/>
                </a:solidFill>
                <a:latin typeface="DejaVu Sans"/>
              </a:defRPr>
            </a:pPr>
            <a:r>
              <a:t>Obtain borrower identifiers, dates, target horizon and verified prediction-time feature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3600" y="2230755"/>
            <a:ext cx="10604500" cy="3638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900" b="0">
                <a:solidFill>
                  <a:srgbClr val="152B3A"/>
                </a:solidFill>
                <a:latin typeface="DejaVu Sans"/>
              </a:defRPr>
            </a:pPr>
            <a:r>
              <a:t>lineage.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" y="2848610"/>
            <a:ext cx="50800" cy="1143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600" y="2759710"/>
            <a:ext cx="10604500" cy="3638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900" b="0">
                <a:solidFill>
                  <a:srgbClr val="152B3A"/>
                </a:solidFill>
                <a:latin typeface="DejaVu Sans"/>
              </a:defRPr>
            </a:pPr>
            <a:r>
              <a:t>Use appropriate group/time development splits, then assess a genuinely new cohort.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377565"/>
            <a:ext cx="50800" cy="1143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600" y="3288665"/>
            <a:ext cx="10604500" cy="3638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900" b="0">
                <a:solidFill>
                  <a:srgbClr val="152B3A"/>
                </a:solidFill>
                <a:latin typeface="DejaVu Sans"/>
              </a:defRPr>
            </a:pPr>
            <a:r>
              <a:t>Define error costs, review capacity, subgroup checks and monitoring ownership.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000" y="3906520"/>
            <a:ext cx="50800" cy="1143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3600" y="3817620"/>
            <a:ext cx="10604500" cy="3638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900" b="0">
                <a:solidFill>
                  <a:srgbClr val="152B3A"/>
                </a:solidFill>
                <a:latin typeface="DejaVu Sans"/>
              </a:defRPr>
            </a:pPr>
            <a:r>
              <a:t>Validate recalibration and explanation stability under refitting and distribution shift.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" y="6502400"/>
            <a:ext cx="103251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546774"/>
                </a:solidFill>
                <a:latin typeface="DejaVu Sans"/>
              </a:defRPr>
            </a:pPr>
            <a:r>
              <a:t>Development CV evidence • historical test excluded • docs/portfolio-audit.md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2500" y="6502400"/>
            <a:ext cx="7366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152B3A"/>
                </a:solidFill>
                <a:latin typeface="DejaVu Sans"/>
              </a:defRPr>
            </a:pPr>
            <a:r>
              <a:t>34 / 35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04800"/>
            <a:ext cx="11087100" cy="215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000" b="1">
                <a:solidFill>
                  <a:srgbClr val="087F8C"/>
                </a:solidFill>
                <a:latin typeface="DejaVu Sans"/>
              </a:defRPr>
            </a:pPr>
            <a:r>
              <a:t>CREDIT MODEL STUDY  /  16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647700"/>
            <a:ext cx="11087100" cy="482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2900" b="1">
                <a:solidFill>
                  <a:srgbClr val="152B3A"/>
                </a:solidFill>
                <a:latin typeface="DejaVu Sans"/>
              </a:defRPr>
            </a:pPr>
            <a:r>
              <a:t>Evidence and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549400"/>
            <a:ext cx="110871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546774"/>
                </a:solidFill>
                <a:latin typeface="DejaVu Sans"/>
              </a:defRPr>
            </a:pPr>
            <a:r>
              <a:t>Technical report, theory guide and compact machine-readable evidence accompany this presentation.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993900"/>
            <a:ext cx="50800" cy="1143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3600" y="1905000"/>
            <a:ext cx="10604500" cy="3467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800" b="0">
                <a:solidFill>
                  <a:srgbClr val="152B3A"/>
                </a:solidFill>
                <a:latin typeface="DejaVu Sans"/>
              </a:defRPr>
            </a:pPr>
            <a:r>
              <a:t>docs/portfolio-audit.md and docs/evidence/portfolio_v1: complete evidence and limitations.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505710"/>
            <a:ext cx="50800" cy="1143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2416810"/>
            <a:ext cx="10604500" cy="3467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800" b="0">
                <a:solidFill>
                  <a:srgbClr val="152B3A"/>
                </a:solidFill>
                <a:latin typeface="DejaVu Sans"/>
              </a:defRPr>
            </a:pPr>
            <a:r>
              <a:t>config/portfolio.yaml: planned study; portfolio_intercept.yaml: labeled adaptive follow-up.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000" y="3017520"/>
            <a:ext cx="50800" cy="1143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3600" y="2928620"/>
            <a:ext cx="10604500" cy="3467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800" b="0">
                <a:solidFill>
                  <a:srgbClr val="152B3A"/>
                </a:solidFill>
                <a:latin typeface="DejaVu Sans"/>
              </a:defRPr>
            </a:pPr>
            <a:r>
              <a:t>Primary sources: scikit-learn CV/scoring/calibration; XGBoost; SHAP (Lundberg &amp; Lee); LIME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00" y="3237230"/>
            <a:ext cx="10604500" cy="3467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800" b="0">
                <a:solidFill>
                  <a:srgbClr val="152B3A"/>
                </a:solidFill>
                <a:latin typeface="DejaVu Sans"/>
              </a:defRPr>
            </a:pPr>
            <a:r>
              <a:t>(Ribeiro et al.).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000" y="3837940"/>
            <a:ext cx="50800" cy="1143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3600" y="3749040"/>
            <a:ext cx="10604500" cy="3467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800" b="0">
                <a:solidFill>
                  <a:srgbClr val="152B3A"/>
                </a:solidFill>
                <a:latin typeface="DejaVu Sans"/>
              </a:defRPr>
            </a:pPr>
            <a:r>
              <a:t>GitHub reports/portfolio_v1: presentation PDF and PowerPoint. Theory PDF, technical-report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4057650"/>
            <a:ext cx="10604500" cy="3467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1800" b="0">
                <a:solidFill>
                  <a:srgbClr val="152B3A"/>
                </a:solidFill>
                <a:latin typeface="DejaVu Sans"/>
              </a:defRPr>
            </a:pPr>
            <a:r>
              <a:t>PDF, charts and previews stay local.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" y="6502400"/>
            <a:ext cx="103251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546774"/>
                </a:solidFill>
                <a:latin typeface="DejaVu Sans"/>
              </a:defRPr>
            </a:pPr>
            <a:r>
              <a:t>Development CV evidence • historical test excluded • docs/portfolio-audit.md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12500" y="6502400"/>
            <a:ext cx="736600" cy="165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800" b="0">
                <a:solidFill>
                  <a:srgbClr val="152B3A"/>
                </a:solidFill>
                <a:latin typeface="DejaVu Sans"/>
              </a:defRPr>
            </a:pPr>
            <a:r>
              <a:t>35 / 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